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3959274"/>
            <a:ext cx="7239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86575" y="2009774"/>
            <a:ext cx="4695825" cy="27813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5562600"/>
            <a:ext cx="10858500" cy="9525"/>
          </a:xfrm>
          <a:prstGeom prst="rect">
            <a:avLst/>
          </a:prstGeom>
          <a:solidFill>
            <a:srgbClr val="58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404" y="2138660"/>
            <a:ext cx="4524165" cy="2523529"/>
          </a:xfrm>
          <a:prstGeom prst="rect">
            <a:avLst/>
          </a:prstGeom>
        </p:spPr>
      </p:pic>
      <p:sp>
        <p:nvSpPr>
          <p:cNvPr id="7" name="段落 · 文献阅读 · 研究生组会"/>
          <p:cNvSpPr txBox="1"/>
          <p:nvPr/>
        </p:nvSpPr>
        <p:spPr>
          <a:xfrm>
            <a:off x="723900" y="533400"/>
            <a:ext cx="230996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D3E0F0"/>
                </a:solidFill>
                <a:latin typeface="Noto Sans CJK SC"/>
                <a:ea typeface="Noto Sans CJK SC"/>
              </a:rPr>
              <a:t>文献阅读 · 研究生组会</a:t>
            </a:r>
          </a:p>
        </p:txBody>
      </p:sp>
      <p:sp>
        <p:nvSpPr>
          <p:cNvPr id="8" name="段落 · BEHAVIOR ROBOT SUITE"/>
          <p:cNvSpPr txBox="1"/>
          <p:nvPr/>
        </p:nvSpPr>
        <p:spPr>
          <a:xfrm>
            <a:off x="723900" y="1066800"/>
            <a:ext cx="4216598" cy="141386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207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 lang="zh-CN">
                <a:solidFill>
                  <a:srgbClr val="FFFFFF"/>
                </a:solidFill>
                <a:latin typeface="Arial"/>
                <a:ea typeface="Noto Sans CJK SC"/>
              </a:rPr>
              <a:t>BEHAVIOR</a:t>
            </a:r>
            <a:br/>
            <a:r>
              <a:rPr sz="4650" b="1" i="0" lang="zh-CN">
                <a:solidFill>
                  <a:srgbClr val="FFFFFF"/>
                </a:solidFill>
                <a:latin typeface="Arial"/>
                <a:ea typeface="Noto Sans CJK SC"/>
              </a:rPr>
              <a:t>ROBOT SUITE</a:t>
            </a:r>
          </a:p>
        </p:txBody>
      </p:sp>
      <p:sp>
        <p:nvSpPr>
          <p:cNvPr id="9" name="段落 · 全身操作的示范采集与模仿学习"/>
          <p:cNvSpPr txBox="1"/>
          <p:nvPr/>
        </p:nvSpPr>
        <p:spPr>
          <a:xfrm>
            <a:off x="723900" y="2589609"/>
            <a:ext cx="3810148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zh-CN">
                <a:solidFill>
                  <a:srgbClr val="FFFFFF"/>
                </a:solidFill>
                <a:latin typeface="Noto Sans CJK SC"/>
                <a:ea typeface="Noto Sans CJK SC"/>
              </a:rPr>
              <a:t>全身操作的示范采集与模仿学习</a:t>
            </a:r>
          </a:p>
        </p:txBody>
      </p:sp>
      <p:sp>
        <p:nvSpPr>
          <p:cNvPr id="10" name="段落 · Streamlining Real-World Whole-Body "/>
          <p:cNvSpPr txBox="1"/>
          <p:nvPr/>
        </p:nvSpPr>
        <p:spPr>
          <a:xfrm>
            <a:off x="723900" y="3140124"/>
            <a:ext cx="4579441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0E8F3"/>
                </a:solidFill>
                <a:latin typeface="Noto Sans CJK SC"/>
                <a:ea typeface="Noto Sans CJK SC"/>
              </a:rPr>
              <a:t>Streamlining Real-World Whole-Body Manipulation</a:t>
            </a:r>
            <a:br/>
            <a:r>
              <a:rPr sz="1500" b="0" i="0" lang="zh-CN">
                <a:solidFill>
                  <a:srgbClr val="E0E8F3"/>
                </a:solidFill>
                <a:latin typeface="Noto Sans CJK SC"/>
                <a:ea typeface="Noto Sans CJK SC"/>
              </a:rPr>
              <a:t>for Everyday Household Activities</a:t>
            </a:r>
          </a:p>
        </p:txBody>
      </p:sp>
      <p:sp>
        <p:nvSpPr>
          <p:cNvPr id="11" name="段落 · CoRL 2025 · Stanford University"/>
          <p:cNvSpPr txBox="1"/>
          <p:nvPr/>
        </p:nvSpPr>
        <p:spPr>
          <a:xfrm>
            <a:off x="723900" y="4245024"/>
            <a:ext cx="2981771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FFFFFF"/>
                </a:solidFill>
                <a:latin typeface="Noto Sans CJK SC"/>
                <a:ea typeface="Noto Sans CJK SC"/>
              </a:rPr>
              <a:t>CoRL 2025 · Stanford University</a:t>
            </a:r>
          </a:p>
        </p:txBody>
      </p:sp>
      <p:sp>
        <p:nvSpPr>
          <p:cNvPr id="12" name="段落 · Yunfan Jiang · Ruohan Zhang · Josia"/>
          <p:cNvSpPr txBox="1"/>
          <p:nvPr/>
        </p:nvSpPr>
        <p:spPr>
          <a:xfrm>
            <a:off x="723900" y="4683174"/>
            <a:ext cx="4584055" cy="512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CFDDED"/>
                </a:solidFill>
                <a:latin typeface="Noto Sans CJK SC"/>
                <a:ea typeface="Noto Sans CJK SC"/>
              </a:rPr>
              <a:t>Yunfan Jiang · Ruohan Zhang · Josiah Wong · Chen Wang · Yanjie Ze</a:t>
            </a:r>
            <a:br/>
            <a:r>
              <a:rPr sz="1050" b="0" i="0" lang="zh-CN">
                <a:solidFill>
                  <a:srgbClr val="CFDDED"/>
                </a:solidFill>
                <a:latin typeface="Noto Sans CJK SC"/>
                <a:ea typeface="Noto Sans CJK SC"/>
              </a:rPr>
              <a:t>Hang Yin · Cem Gokmen · Shuran Song · Jiajun Wu · Li Fei-Fei</a:t>
            </a:r>
          </a:p>
        </p:txBody>
      </p:sp>
      <p:sp>
        <p:nvSpPr>
          <p:cNvPr id="13" name="段落 · Fig. 1 · BRS 支持的日常家庭活动"/>
          <p:cNvSpPr txBox="1"/>
          <p:nvPr/>
        </p:nvSpPr>
        <p:spPr>
          <a:xfrm>
            <a:off x="9725769" y="4905375"/>
            <a:ext cx="193283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CFDDED"/>
                </a:solidFill>
                <a:latin typeface="Noto Sans CJK SC"/>
                <a:ea typeface="Noto Sans CJK SC"/>
              </a:rPr>
              <a:t>Fig. 1 · BRS 支持的日常家庭活动</a:t>
            </a:r>
          </a:p>
        </p:txBody>
      </p:sp>
      <p:sp>
        <p:nvSpPr>
          <p:cNvPr id="14" name="段落 · 汇报人：________"/>
          <p:cNvSpPr txBox="1"/>
          <p:nvPr/>
        </p:nvSpPr>
        <p:spPr>
          <a:xfrm>
            <a:off x="762000" y="5791200"/>
            <a:ext cx="136743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D8E3F0"/>
                </a:solidFill>
                <a:latin typeface="Noto Sans CJK SC"/>
                <a:ea typeface="Noto Sans CJK SC"/>
              </a:rPr>
              <a:t>汇报人：________</a:t>
            </a:r>
          </a:p>
        </p:txBody>
      </p:sp>
      <p:sp>
        <p:nvSpPr>
          <p:cNvPr id="15" name="段落 · 2026 年 10 月 9 日"/>
          <p:cNvSpPr txBox="1"/>
          <p:nvPr/>
        </p:nvSpPr>
        <p:spPr>
          <a:xfrm>
            <a:off x="2543175" y="5791200"/>
            <a:ext cx="129629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D8E3F0"/>
                </a:solidFill>
                <a:latin typeface="Noto Sans CJK SC"/>
                <a:ea typeface="Noto Sans CJK SC"/>
              </a:rPr>
              <a:t>2026 年 10 月 9 日</a:t>
            </a:r>
          </a:p>
        </p:txBody>
      </p:sp>
      <p:sp>
        <p:nvSpPr>
          <p:cNvPr id="16" name="段落 · 全身操作 / 遥操作 / 模仿学习 / 多模态融合"/>
          <p:cNvSpPr txBox="1"/>
          <p:nvPr/>
        </p:nvSpPr>
        <p:spPr>
          <a:xfrm>
            <a:off x="9112746" y="5810250"/>
            <a:ext cx="254585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D8E3F0"/>
                </a:solidFill>
                <a:latin typeface="Noto Sans CJK SC"/>
                <a:ea typeface="Noto Sans CJK SC"/>
              </a:rPr>
              <a:t>全身操作 / 遥操作 / 模仿学习 / 多模态融合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78013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78013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3950" y="178013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68307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78013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2475" y="281642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2475" y="281642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3950" y="281642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475" y="371936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2475" y="281642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475" y="385271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2475" y="385271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3950" y="385271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" y="475565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475" y="385271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2475" y="4917578"/>
            <a:ext cx="4190999" cy="11239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2475" y="4917578"/>
            <a:ext cx="38100" cy="11239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0175" y="1352550"/>
            <a:ext cx="6315075" cy="3600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0175" y="5345310"/>
            <a:ext cx="6315075" cy="857250"/>
          </a:xfrm>
          <a:prstGeom prst="roundRect">
            <a:avLst>
              <a:gd name="adj" fmla="val 8888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188" y="1391542"/>
            <a:ext cx="6315048" cy="3522464"/>
          </a:xfrm>
          <a:prstGeom prst="rect">
            <a:avLst/>
          </a:prstGeom>
        </p:spPr>
      </p:pic>
      <p:sp>
        <p:nvSpPr>
          <p:cNvPr id="25" name="段落 · 02. 研究背景与核心问题"/>
          <p:cNvSpPr txBox="1"/>
          <p:nvPr/>
        </p:nvSpPr>
        <p:spPr>
          <a:xfrm>
            <a:off x="752475" y="323850"/>
            <a:ext cx="324891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02. 研究背景与核心问题</a:t>
            </a:r>
          </a:p>
        </p:txBody>
      </p:sp>
      <p:sp>
        <p:nvSpPr>
          <p:cNvPr id="26" name="段落 · 家庭操作的三项核心能力"/>
          <p:cNvSpPr txBox="1"/>
          <p:nvPr/>
        </p:nvSpPr>
        <p:spPr>
          <a:xfrm>
            <a:off x="752475" y="1323975"/>
            <a:ext cx="24860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家庭操作的三项核心能力</a:t>
            </a:r>
          </a:p>
        </p:txBody>
      </p:sp>
      <p:sp>
        <p:nvSpPr>
          <p:cNvPr id="27" name="段落 · 双臂协调 B"/>
          <p:cNvSpPr txBox="1"/>
          <p:nvPr/>
        </p:nvSpPr>
        <p:spPr>
          <a:xfrm>
            <a:off x="952500" y="1923008"/>
            <a:ext cx="1052661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双臂协调 B</a:t>
            </a:r>
          </a:p>
        </p:txBody>
      </p:sp>
      <p:sp>
        <p:nvSpPr>
          <p:cNvPr id="28" name="段落 · 举起较大、较重的物体，或协同处理衣物。"/>
          <p:cNvSpPr txBox="1"/>
          <p:nvPr/>
        </p:nvSpPr>
        <p:spPr>
          <a:xfrm>
            <a:off x="952500" y="2259210"/>
            <a:ext cx="35148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举起较大、较重的物体，或协同处理衣物。</a:t>
            </a:r>
          </a:p>
        </p:txBody>
      </p:sp>
      <p:sp>
        <p:nvSpPr>
          <p:cNvPr id="29" name="段落 · 稳定、准确的导航 N"/>
          <p:cNvSpPr txBox="1"/>
          <p:nvPr/>
        </p:nvSpPr>
        <p:spPr>
          <a:xfrm>
            <a:off x="952500" y="2959298"/>
            <a:ext cx="186585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稳定、准确的导航 N</a:t>
            </a:r>
          </a:p>
        </p:txBody>
      </p:sp>
      <p:sp>
        <p:nvSpPr>
          <p:cNvPr id="30" name="段落 · 跨房间移动、到达目标，并与操作动作协调。"/>
          <p:cNvSpPr txBox="1"/>
          <p:nvPr/>
        </p:nvSpPr>
        <p:spPr>
          <a:xfrm>
            <a:off x="952500" y="3295501"/>
            <a:ext cx="369584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跨房间移动、到达目标，并与操作动作协调。</a:t>
            </a:r>
          </a:p>
        </p:txBody>
      </p:sp>
      <p:sp>
        <p:nvSpPr>
          <p:cNvPr id="31" name="段落 · 广泛的末端可达性 R"/>
          <p:cNvSpPr txBox="1"/>
          <p:nvPr/>
        </p:nvSpPr>
        <p:spPr>
          <a:xfrm>
            <a:off x="952500" y="3995588"/>
            <a:ext cx="1848296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广泛的末端可达性 R</a:t>
            </a:r>
          </a:p>
        </p:txBody>
      </p:sp>
      <p:sp>
        <p:nvSpPr>
          <p:cNvPr id="32" name="段落 · 适应物体分布在地面、货架等不同高度。"/>
          <p:cNvSpPr txBox="1"/>
          <p:nvPr/>
        </p:nvSpPr>
        <p:spPr>
          <a:xfrm>
            <a:off x="952500" y="4331791"/>
            <a:ext cx="33338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适应物体分布在地面、货架等不同高度。</a:t>
            </a:r>
          </a:p>
        </p:txBody>
      </p:sp>
      <p:sp>
        <p:nvSpPr>
          <p:cNvPr id="33" name="段落 · 两类困难 高效采集全身示范；学习协调一致的全身动 作。"/>
          <p:cNvSpPr txBox="1"/>
          <p:nvPr/>
        </p:nvSpPr>
        <p:spPr>
          <a:xfrm>
            <a:off x="952500" y="5050928"/>
            <a:ext cx="3695700" cy="942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两类困难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高效采集全身示范；学习协调一致的全身动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作。</a:t>
            </a:r>
          </a:p>
        </p:txBody>
      </p:sp>
      <p:sp>
        <p:nvSpPr>
          <p:cNvPr id="34" name="段落 · Fig. 1 · B：双臂协调；N：导航；R：末端可达性"/>
          <p:cNvSpPr txBox="1"/>
          <p:nvPr/>
        </p:nvSpPr>
        <p:spPr>
          <a:xfrm>
            <a:off x="5210175" y="5019675"/>
            <a:ext cx="278933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1 · B：双臂协调；N：导航；R：末端可达性</a:t>
            </a:r>
          </a:p>
        </p:txBody>
      </p:sp>
      <p:sp>
        <p:nvSpPr>
          <p:cNvPr id="35" name="段落 · 双臂、活动躯干和底盘扩大操作能力，也增加动作维度与部件间的运动 依赖。"/>
          <p:cNvSpPr txBox="1"/>
          <p:nvPr/>
        </p:nvSpPr>
        <p:spPr>
          <a:xfrm>
            <a:off x="5400675" y="5488185"/>
            <a:ext cx="5981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双臂、活动躯干和底盘扩大操作能力，也增加动作维度与部件间的运动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依赖。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10772775" cy="2533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4278510"/>
            <a:ext cx="3463825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278510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7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546035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4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6800" y="4278510"/>
            <a:ext cx="3463974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6800" y="4278510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1250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800" y="5460355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800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1275" y="4278510"/>
            <a:ext cx="3463825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275" y="4278510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15576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1275" y="546035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2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2475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475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7382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2475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2475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55206" y="5612755"/>
            <a:ext cx="2364581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55206" y="5612755"/>
            <a:ext cx="2364581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0262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55206" y="6089005"/>
            <a:ext cx="2364581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55206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8086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8086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2993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8086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8086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60817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0817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15725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60817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0817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50" y="1352550"/>
            <a:ext cx="6722223" cy="2533501"/>
          </a:xfrm>
          <a:prstGeom prst="rect">
            <a:avLst/>
          </a:prstGeom>
        </p:spPr>
      </p:pic>
      <p:sp>
        <p:nvSpPr>
          <p:cNvPr id="42" name="段落 · 03. BRS 整体系统"/>
          <p:cNvSpPr txBox="1"/>
          <p:nvPr/>
        </p:nvSpPr>
        <p:spPr>
          <a:xfrm>
            <a:off x="752475" y="323850"/>
            <a:ext cx="236889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03. BRS 整体系统</a:t>
            </a:r>
          </a:p>
        </p:txBody>
      </p:sp>
      <p:sp>
        <p:nvSpPr>
          <p:cNvPr id="43" name="段落 · Fig. 3 · 左：Galaxea R1；右：JoyLo 遥操作接口"/>
          <p:cNvSpPr txBox="1"/>
          <p:nvPr/>
        </p:nvSpPr>
        <p:spPr>
          <a:xfrm>
            <a:off x="752475" y="3952875"/>
            <a:ext cx="280124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3 · 左：Galaxea R1；右：JoyLo 遥操作接口</a:t>
            </a:r>
          </a:p>
        </p:txBody>
      </p:sp>
      <p:sp>
        <p:nvSpPr>
          <p:cNvPr id="44" name="段落 · 机器人平台"/>
          <p:cNvSpPr txBox="1"/>
          <p:nvPr/>
        </p:nvSpPr>
        <p:spPr>
          <a:xfrm>
            <a:off x="952500" y="4421385"/>
            <a:ext cx="107632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机器人平台</a:t>
            </a:r>
          </a:p>
        </p:txBody>
      </p:sp>
      <p:sp>
        <p:nvSpPr>
          <p:cNvPr id="45" name="段落 · 全向底盘 + 4 自由度躯干 双臂各 6 自由度 + 双夹爪"/>
          <p:cNvSpPr txBox="1"/>
          <p:nvPr/>
        </p:nvSpPr>
        <p:spPr>
          <a:xfrm>
            <a:off x="952500" y="4776638"/>
            <a:ext cx="1963191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全向底盘 + 4 自由度躯干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双臂各 6 自由度 + 双夹爪</a:t>
            </a:r>
          </a:p>
        </p:txBody>
      </p:sp>
      <p:sp>
        <p:nvSpPr>
          <p:cNvPr id="46" name="段落 · JoyLo：示范采集"/>
          <p:cNvSpPr txBox="1"/>
          <p:nvPr/>
        </p:nvSpPr>
        <p:spPr>
          <a:xfrm>
            <a:off x="4606825" y="4421385"/>
            <a:ext cx="1635323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JoyLo：示范采集</a:t>
            </a:r>
          </a:p>
        </p:txBody>
      </p:sp>
      <p:sp>
        <p:nvSpPr>
          <p:cNvPr id="47" name="段落 · 运动学对应主端机械臂 Joy-Con 控制底盘、躯干与夹爪"/>
          <p:cNvSpPr txBox="1"/>
          <p:nvPr/>
        </p:nvSpPr>
        <p:spPr>
          <a:xfrm>
            <a:off x="4606825" y="4776638"/>
            <a:ext cx="2490787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运动学对应主端机械臂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Joy-Con 控制底盘、躯干与夹爪</a:t>
            </a:r>
          </a:p>
        </p:txBody>
      </p:sp>
      <p:sp>
        <p:nvSpPr>
          <p:cNvPr id="48" name="段落 · WB-VIMA：学习策略"/>
          <p:cNvSpPr txBox="1"/>
          <p:nvPr/>
        </p:nvSpPr>
        <p:spPr>
          <a:xfrm>
            <a:off x="8261300" y="4421385"/>
            <a:ext cx="1906339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WB-VIMA：学习策略</a:t>
            </a:r>
          </a:p>
        </p:txBody>
      </p:sp>
      <p:sp>
        <p:nvSpPr>
          <p:cNvPr id="49" name="段落 · 融合多模态观察 条件生成协调的全身动作"/>
          <p:cNvSpPr txBox="1"/>
          <p:nvPr/>
        </p:nvSpPr>
        <p:spPr>
          <a:xfrm>
            <a:off x="8261300" y="4776638"/>
            <a:ext cx="1962150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融合多模态观察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条件生成协调的全身动作</a:t>
            </a:r>
          </a:p>
        </p:txBody>
      </p:sp>
      <p:sp>
        <p:nvSpPr>
          <p:cNvPr id="50" name="段落 · 遥操作示范"/>
          <p:cNvSpPr txBox="1"/>
          <p:nvPr/>
        </p:nvSpPr>
        <p:spPr>
          <a:xfrm>
            <a:off x="1458366" y="5717530"/>
            <a:ext cx="1028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遥操作示范</a:t>
            </a:r>
          </a:p>
        </p:txBody>
      </p:sp>
      <p:sp>
        <p:nvSpPr>
          <p:cNvPr id="51" name="段落 · →"/>
          <p:cNvSpPr txBox="1"/>
          <p:nvPr/>
        </p:nvSpPr>
        <p:spPr>
          <a:xfrm>
            <a:off x="3212157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52" name="段落 · 数据整理"/>
          <p:cNvSpPr txBox="1"/>
          <p:nvPr/>
        </p:nvSpPr>
        <p:spPr>
          <a:xfrm>
            <a:off x="4356496" y="5717530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数据整理</a:t>
            </a:r>
          </a:p>
        </p:txBody>
      </p:sp>
      <p:sp>
        <p:nvSpPr>
          <p:cNvPr id="53" name="段落 · →"/>
          <p:cNvSpPr txBox="1"/>
          <p:nvPr/>
        </p:nvSpPr>
        <p:spPr>
          <a:xfrm>
            <a:off x="6015037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54" name="段落 · 策略训练"/>
          <p:cNvSpPr txBox="1"/>
          <p:nvPr/>
        </p:nvSpPr>
        <p:spPr>
          <a:xfrm>
            <a:off x="7159228" y="5717530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策略训练</a:t>
            </a:r>
          </a:p>
        </p:txBody>
      </p:sp>
      <p:sp>
        <p:nvSpPr>
          <p:cNvPr id="55" name="段落 · →"/>
          <p:cNvSpPr txBox="1"/>
          <p:nvPr/>
        </p:nvSpPr>
        <p:spPr>
          <a:xfrm>
            <a:off x="8817768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56" name="段落 · 实机部署与评估"/>
          <p:cNvSpPr txBox="1"/>
          <p:nvPr/>
        </p:nvSpPr>
        <p:spPr>
          <a:xfrm>
            <a:off x="9676209" y="5717530"/>
            <a:ext cx="1409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实机部署与评估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238875" cy="3143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4897635"/>
            <a:ext cx="6238875" cy="1151334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897635"/>
            <a:ext cx="38100" cy="1151334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58050" y="1780133"/>
            <a:ext cx="2012751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58050" y="2237333"/>
            <a:ext cx="2012751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70801" y="1780133"/>
            <a:ext cx="225444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70801" y="2237333"/>
            <a:ext cx="225444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8050" y="27278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70801" y="27278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58050" y="2737395"/>
            <a:ext cx="4267200" cy="4762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8050" y="320412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70801" y="320412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58050" y="36803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0801" y="36803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58050" y="3689895"/>
            <a:ext cx="4267200" cy="4762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58050" y="415662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0801" y="415662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8050" y="46328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70801" y="46328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58050" y="4799558"/>
            <a:ext cx="4267200" cy="1183927"/>
          </a:xfrm>
          <a:prstGeom prst="roundRect">
            <a:avLst>
              <a:gd name="adj" fmla="val 804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050" y="4799558"/>
            <a:ext cx="426720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15725" y="4799558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8050" y="5973960"/>
            <a:ext cx="426720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58050" y="4799558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8050" y="6116835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18" y="1352550"/>
            <a:ext cx="5175639" cy="3143101"/>
          </a:xfrm>
          <a:prstGeom prst="rect">
            <a:avLst/>
          </a:prstGeom>
        </p:spPr>
      </p:pic>
      <p:sp>
        <p:nvSpPr>
          <p:cNvPr id="31" name="段落 · 04. JoyLo：全身示范采集"/>
          <p:cNvSpPr txBox="1"/>
          <p:nvPr/>
        </p:nvSpPr>
        <p:spPr>
          <a:xfrm>
            <a:off x="752475" y="323850"/>
            <a:ext cx="347662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04. JoyLo：全身示范采集</a:t>
            </a:r>
          </a:p>
        </p:txBody>
      </p:sp>
      <p:sp>
        <p:nvSpPr>
          <p:cNvPr id="32" name="段落 · Fig. 3 局部 · 保留 JoyLo 的主端结构与按键标注"/>
          <p:cNvSpPr txBox="1"/>
          <p:nvPr/>
        </p:nvSpPr>
        <p:spPr>
          <a:xfrm>
            <a:off x="752475" y="4562475"/>
            <a:ext cx="272147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3 局部 · 保留 JoyLo 的主端结构与按键标注</a:t>
            </a:r>
          </a:p>
        </p:txBody>
      </p:sp>
      <p:sp>
        <p:nvSpPr>
          <p:cNvPr id="33" name="段落 · 触觉反馈"/>
          <p:cNvSpPr txBox="1"/>
          <p:nvPr/>
        </p:nvSpPr>
        <p:spPr>
          <a:xfrm>
            <a:off x="952500" y="5030985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触觉反馈</a:t>
            </a:r>
          </a:p>
        </p:txBody>
      </p:sp>
      <p:sp>
        <p:nvSpPr>
          <p:cNvPr id="34" name="段落 · 根据主从关节位置及速度差产生反馈力矩，提供比例阻力，并抑制突兀动 作。"/>
          <p:cNvSpPr txBox="1"/>
          <p:nvPr/>
        </p:nvSpPr>
        <p:spPr>
          <a:xfrm>
            <a:off x="952500" y="5364360"/>
            <a:ext cx="5867548" cy="6328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根据主从关节位置及速度差产生反馈力矩，提供比例阻力，并抑制突兀动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作。</a:t>
            </a:r>
          </a:p>
        </p:txBody>
      </p:sp>
      <p:sp>
        <p:nvSpPr>
          <p:cNvPr id="35" name="段落 · 各部件如何控制？"/>
          <p:cNvSpPr txBox="1"/>
          <p:nvPr/>
        </p:nvSpPr>
        <p:spPr>
          <a:xfrm>
            <a:off x="7258050" y="1323975"/>
            <a:ext cx="18288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各部件如何控制？</a:t>
            </a:r>
          </a:p>
        </p:txBody>
      </p:sp>
      <p:sp>
        <p:nvSpPr>
          <p:cNvPr id="36" name="段落 · 输入"/>
          <p:cNvSpPr txBox="1"/>
          <p:nvPr/>
        </p:nvSpPr>
        <p:spPr>
          <a:xfrm>
            <a:off x="7381874" y="1884908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37" name="段落 · 机器人动作"/>
          <p:cNvSpPr txBox="1"/>
          <p:nvPr/>
        </p:nvSpPr>
        <p:spPr>
          <a:xfrm>
            <a:off x="9394626" y="1884908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机器人动作</a:t>
            </a:r>
          </a:p>
        </p:txBody>
      </p:sp>
      <p:sp>
        <p:nvSpPr>
          <p:cNvPr id="38" name="段落 · 主端机械臂运动"/>
          <p:cNvSpPr txBox="1"/>
          <p:nvPr/>
        </p:nvSpPr>
        <p:spPr>
          <a:xfrm>
            <a:off x="7372350" y="2370683"/>
            <a:ext cx="12763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主端机械臂运动</a:t>
            </a:r>
          </a:p>
        </p:txBody>
      </p:sp>
      <p:sp>
        <p:nvSpPr>
          <p:cNvPr id="39" name="段落 · 映射双臂关节动作"/>
          <p:cNvSpPr txBox="1"/>
          <p:nvPr/>
        </p:nvSpPr>
        <p:spPr>
          <a:xfrm>
            <a:off x="9385101" y="2370683"/>
            <a:ext cx="14478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映射双臂关节动作</a:t>
            </a:r>
          </a:p>
        </p:txBody>
      </p:sp>
      <p:sp>
        <p:nvSpPr>
          <p:cNvPr id="40" name="段落 · 左摇杆"/>
          <p:cNvSpPr txBox="1"/>
          <p:nvPr/>
        </p:nvSpPr>
        <p:spPr>
          <a:xfrm>
            <a:off x="7372350" y="284693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左摇杆</a:t>
            </a:r>
          </a:p>
        </p:txBody>
      </p:sp>
      <p:sp>
        <p:nvSpPr>
          <p:cNvPr id="41" name="段落 · 底盘速度"/>
          <p:cNvSpPr txBox="1"/>
          <p:nvPr/>
        </p:nvSpPr>
        <p:spPr>
          <a:xfrm>
            <a:off x="9385101" y="284693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底盘速度</a:t>
            </a:r>
          </a:p>
        </p:txBody>
      </p:sp>
      <p:sp>
        <p:nvSpPr>
          <p:cNvPr id="42" name="段落 · 右摇杆"/>
          <p:cNvSpPr txBox="1"/>
          <p:nvPr/>
        </p:nvSpPr>
        <p:spPr>
          <a:xfrm>
            <a:off x="7372350" y="332318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右摇杆</a:t>
            </a:r>
          </a:p>
        </p:txBody>
      </p:sp>
      <p:sp>
        <p:nvSpPr>
          <p:cNvPr id="43" name="段落 · 腰部与髋部"/>
          <p:cNvSpPr txBox="1"/>
          <p:nvPr/>
        </p:nvSpPr>
        <p:spPr>
          <a:xfrm>
            <a:off x="9385101" y="3323183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腰部与髋部</a:t>
            </a:r>
          </a:p>
        </p:txBody>
      </p:sp>
      <p:sp>
        <p:nvSpPr>
          <p:cNvPr id="44" name="段落 · 方向键"/>
          <p:cNvSpPr txBox="1"/>
          <p:nvPr/>
        </p:nvSpPr>
        <p:spPr>
          <a:xfrm>
            <a:off x="7372350" y="379943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方向键</a:t>
            </a:r>
          </a:p>
        </p:txBody>
      </p:sp>
      <p:sp>
        <p:nvSpPr>
          <p:cNvPr id="45" name="段落 · 躯干高度"/>
          <p:cNvSpPr txBox="1"/>
          <p:nvPr/>
        </p:nvSpPr>
        <p:spPr>
          <a:xfrm>
            <a:off x="9385101" y="379943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躯干高度</a:t>
            </a:r>
          </a:p>
        </p:txBody>
      </p:sp>
      <p:sp>
        <p:nvSpPr>
          <p:cNvPr id="46" name="段落 · 扳机键"/>
          <p:cNvSpPr txBox="1"/>
          <p:nvPr/>
        </p:nvSpPr>
        <p:spPr>
          <a:xfrm>
            <a:off x="7372350" y="427568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扳机键</a:t>
            </a:r>
          </a:p>
        </p:txBody>
      </p:sp>
      <p:sp>
        <p:nvSpPr>
          <p:cNvPr id="47" name="段落 · 夹爪开合"/>
          <p:cNvSpPr txBox="1"/>
          <p:nvPr/>
        </p:nvSpPr>
        <p:spPr>
          <a:xfrm>
            <a:off x="9385101" y="427568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夹爪开合</a:t>
            </a:r>
          </a:p>
        </p:txBody>
      </p:sp>
      <p:sp>
        <p:nvSpPr>
          <p:cNvPr id="48" name="段落 · 低成本、易维护"/>
          <p:cNvSpPr txBox="1"/>
          <p:nvPr/>
        </p:nvSpPr>
        <p:spPr>
          <a:xfrm>
            <a:off x="7458075" y="4942433"/>
            <a:ext cx="147637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低成本、易维护</a:t>
            </a:r>
          </a:p>
        </p:txBody>
      </p:sp>
      <p:sp>
        <p:nvSpPr>
          <p:cNvPr id="49" name="段落 · 3D 打印连杆、Dynamixel 电机和 Joy-Con；接 口成本"/>
          <p:cNvSpPr txBox="1"/>
          <p:nvPr/>
        </p:nvSpPr>
        <p:spPr>
          <a:xfrm>
            <a:off x="7458075" y="5278635"/>
            <a:ext cx="3817739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3D 打印连杆、Dynamixel 电机和 Joy-Con；接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口成本低于 $500。</a:t>
            </a:r>
          </a:p>
        </p:txBody>
      </p:sp>
      <p:sp>
        <p:nvSpPr>
          <p:cNvPr id="50" name="段落 · 无额外力传感器的触觉反馈，不能视为准确测量末端接触力。"/>
          <p:cNvSpPr txBox="1"/>
          <p:nvPr/>
        </p:nvSpPr>
        <p:spPr>
          <a:xfrm>
            <a:off x="7400925" y="6116835"/>
            <a:ext cx="41911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无额外力传感器的触觉反馈，不能视为准确测量末端接触力。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7620000" cy="4048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5764410"/>
            <a:ext cx="7620000" cy="44767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764410"/>
            <a:ext cx="38100" cy="4476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39175" y="1352550"/>
            <a:ext cx="2886075" cy="1183927"/>
          </a:xfrm>
          <a:prstGeom prst="roundRect">
            <a:avLst>
              <a:gd name="adj" fmla="val 804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39175" y="1352550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15725" y="1352550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9175" y="2526952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9175" y="1352550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39175" y="2660302"/>
            <a:ext cx="2886075" cy="1455390"/>
          </a:xfrm>
          <a:prstGeom prst="roundRect">
            <a:avLst>
              <a:gd name="adj" fmla="val 654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39175" y="2660302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15725" y="2660302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9175" y="4106167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9175" y="2660302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39175" y="4239517"/>
            <a:ext cx="2886075" cy="1455390"/>
          </a:xfrm>
          <a:prstGeom prst="roundRect">
            <a:avLst>
              <a:gd name="adj" fmla="val 654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39175" y="4239517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15725" y="4239517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39175" y="5685383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39175" y="4239517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39175" y="5828258"/>
            <a:ext cx="28575" cy="47238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69" y="1352550"/>
            <a:ext cx="7493462" cy="4047976"/>
          </a:xfrm>
          <a:prstGeom prst="rect">
            <a:avLst/>
          </a:prstGeom>
        </p:spPr>
      </p:pic>
      <p:sp>
        <p:nvSpPr>
          <p:cNvPr id="25" name="段落 · 05. WB-VIMA：多模态观察融合"/>
          <p:cNvSpPr txBox="1"/>
          <p:nvPr/>
        </p:nvSpPr>
        <p:spPr>
          <a:xfrm>
            <a:off x="752475" y="323850"/>
            <a:ext cx="418013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05. WB-VIMA：多模态观察融合</a:t>
            </a:r>
          </a:p>
        </p:txBody>
      </p:sp>
      <p:sp>
        <p:nvSpPr>
          <p:cNvPr id="26" name="段落 · Fig. 4 · WB-VIMA 原始架构图（本页关注左侧观察编码）"/>
          <p:cNvSpPr txBox="1"/>
          <p:nvPr/>
        </p:nvSpPr>
        <p:spPr>
          <a:xfrm>
            <a:off x="752475" y="5467350"/>
            <a:ext cx="320516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4 · WB-VIMA 原始架构图（本页关注左侧观察编码）</a:t>
            </a:r>
          </a:p>
        </p:txBody>
      </p:sp>
      <p:sp>
        <p:nvSpPr>
          <p:cNvPr id="27" name="段落 · 环境信息 + 本体状态 + 历史观察 → 动作读取特征 Ea"/>
          <p:cNvSpPr txBox="1"/>
          <p:nvPr/>
        </p:nvSpPr>
        <p:spPr>
          <a:xfrm>
            <a:off x="933449" y="5859660"/>
            <a:ext cx="3956744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环境信息 + 本体状态 + 历史观察 → 动作读取特征 E</a:t>
            </a:r>
            <a:r>
              <a:rPr sz="877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28" name="段落 · 环境 token"/>
          <p:cNvSpPr txBox="1"/>
          <p:nvPr/>
        </p:nvSpPr>
        <p:spPr>
          <a:xfrm>
            <a:off x="8839200" y="1495425"/>
            <a:ext cx="1054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环境 token</a:t>
            </a:r>
          </a:p>
        </p:txBody>
      </p:sp>
      <p:sp>
        <p:nvSpPr>
          <p:cNvPr id="29" name="段落 · 自视角彩色点云 PointNet → Epcd"/>
          <p:cNvSpPr txBox="1"/>
          <p:nvPr/>
        </p:nvSpPr>
        <p:spPr>
          <a:xfrm>
            <a:off x="8839200" y="1831627"/>
            <a:ext cx="1393031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自视角彩色点云</a:t>
            </a:r>
            <a:br/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PointNet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→ E</a:t>
            </a:r>
            <a:r>
              <a:rPr sz="926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pcd</a:t>
            </a:r>
          </a:p>
        </p:txBody>
      </p:sp>
      <p:sp>
        <p:nvSpPr>
          <p:cNvPr id="30" name="段落 · 状态 token"/>
          <p:cNvSpPr txBox="1"/>
          <p:nvPr/>
        </p:nvSpPr>
        <p:spPr>
          <a:xfrm>
            <a:off x="8839200" y="2803177"/>
            <a:ext cx="1054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状态 token</a:t>
            </a:r>
          </a:p>
        </p:txBody>
      </p:sp>
      <p:sp>
        <p:nvSpPr>
          <p:cNvPr id="31" name="段落 · 关节位置、底盘速度等本体状 态 MLP → Eprop"/>
          <p:cNvSpPr txBox="1"/>
          <p:nvPr/>
        </p:nvSpPr>
        <p:spPr>
          <a:xfrm>
            <a:off x="8839200" y="3139380"/>
            <a:ext cx="2429023" cy="895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关节位置、底盘速度等本体状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态</a:t>
            </a:r>
            <a:br/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MLP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→ E</a:t>
            </a:r>
            <a:r>
              <a:rPr sz="926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prop</a:t>
            </a:r>
          </a:p>
        </p:txBody>
      </p:sp>
      <p:sp>
        <p:nvSpPr>
          <p:cNvPr id="32" name="段落 · 因果自注意力"/>
          <p:cNvSpPr txBox="1"/>
          <p:nvPr/>
        </p:nvSpPr>
        <p:spPr>
          <a:xfrm>
            <a:off x="8839200" y="4382392"/>
            <a:ext cx="12763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因果自注意力</a:t>
            </a:r>
          </a:p>
        </p:txBody>
      </p:sp>
      <p:sp>
        <p:nvSpPr>
          <p:cNvPr id="33" name="段落 · 当前及历史 token 与动作读取 token 一起输入；最终 Ea "/>
          <p:cNvSpPr txBox="1"/>
          <p:nvPr/>
        </p:nvSpPr>
        <p:spPr>
          <a:xfrm>
            <a:off x="8839200" y="4718595"/>
            <a:ext cx="2481708" cy="895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当前及历史 token 与动作读取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token 一起输入；最终 E</a:t>
            </a:r>
            <a:r>
              <a:rPr sz="926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用于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动作生成。</a:t>
            </a:r>
          </a:p>
        </p:txBody>
      </p:sp>
      <p:sp>
        <p:nvSpPr>
          <p:cNvPr id="34" name="段落 · Ea 是特征，尚不是动作。当前动作 token 不读取未来观察。"/>
          <p:cNvSpPr txBox="1"/>
          <p:nvPr/>
        </p:nvSpPr>
        <p:spPr>
          <a:xfrm>
            <a:off x="8782050" y="5828258"/>
            <a:ext cx="2389733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E</a:t>
            </a:r>
            <a:r>
              <a:rPr sz="78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a</a:t>
            </a: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 是特征，尚不是动作。当前动作</a:t>
            </a:r>
            <a:br/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token 不读取未来观察。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7286625" cy="38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5526285"/>
            <a:ext cx="7286625" cy="7048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526285"/>
            <a:ext cx="38100" cy="7048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5800" y="2221110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5800" y="1485900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05800" y="3270646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5800" y="2535435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5800" y="4585841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5800" y="3584971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5800" y="5490716"/>
            <a:ext cx="28575" cy="47238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85" y="1352550"/>
            <a:ext cx="7052654" cy="3809851"/>
          </a:xfrm>
          <a:prstGeom prst="rect">
            <a:avLst/>
          </a:prstGeom>
        </p:spPr>
      </p:pic>
      <p:sp>
        <p:nvSpPr>
          <p:cNvPr id="16" name="段落 · 06. WB-VIMA：条件动作生成"/>
          <p:cNvSpPr txBox="1"/>
          <p:nvPr/>
        </p:nvSpPr>
        <p:spPr>
          <a:xfrm>
            <a:off x="752475" y="323850"/>
            <a:ext cx="3880098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06. WB-VIMA：条件动作生成</a:t>
            </a:r>
          </a:p>
        </p:txBody>
      </p:sp>
      <p:sp>
        <p:nvSpPr>
          <p:cNvPr id="17" name="段落 · Fig. 4 · 本页关注右侧解码顺序与虚线条件依赖"/>
          <p:cNvSpPr txBox="1"/>
          <p:nvPr/>
        </p:nvSpPr>
        <p:spPr>
          <a:xfrm>
            <a:off x="752475" y="5229225"/>
            <a:ext cx="266372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4 · 本页关注右侧解码顺序与虚线条件依赖</a:t>
            </a:r>
          </a:p>
        </p:txBody>
      </p:sp>
      <p:sp>
        <p:nvSpPr>
          <p:cNvPr id="18" name="段落 · 自回归：身体部件间的条件依赖。 扩散：各组内部生成未来动作序列的机制。"/>
          <p:cNvSpPr txBox="1"/>
          <p:nvPr/>
        </p:nvSpPr>
        <p:spPr>
          <a:xfrm>
            <a:off x="933449" y="5621535"/>
            <a:ext cx="333375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自回归：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身体部件间的条件依赖。</a:t>
            </a:r>
            <a:br/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扩散：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各组内部生成未来动作序列的机制。</a:t>
            </a:r>
          </a:p>
        </p:txBody>
      </p:sp>
      <p:sp>
        <p:nvSpPr>
          <p:cNvPr id="19" name="段落 · 1"/>
          <p:cNvSpPr txBox="1"/>
          <p:nvPr/>
        </p:nvSpPr>
        <p:spPr>
          <a:xfrm>
            <a:off x="8401050" y="1504950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20" name="段落 · 底盘 · 3 DoFs"/>
          <p:cNvSpPr txBox="1"/>
          <p:nvPr/>
        </p:nvSpPr>
        <p:spPr>
          <a:xfrm>
            <a:off x="8724900" y="1466850"/>
            <a:ext cx="13802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底盘 · 3 DoFs</a:t>
            </a:r>
          </a:p>
        </p:txBody>
      </p:sp>
      <p:sp>
        <p:nvSpPr>
          <p:cNvPr id="21" name="段落 · 条件：Ea"/>
          <p:cNvSpPr txBox="1"/>
          <p:nvPr/>
        </p:nvSpPr>
        <p:spPr>
          <a:xfrm>
            <a:off x="8724900" y="1822102"/>
            <a:ext cx="75440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条件：E</a:t>
            </a:r>
            <a:r>
              <a:rPr sz="877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22" name="段落 · 2"/>
          <p:cNvSpPr txBox="1"/>
          <p:nvPr/>
        </p:nvSpPr>
        <p:spPr>
          <a:xfrm>
            <a:off x="8401050" y="2554485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23" name="段落 · 躯干 · 4 DoFs"/>
          <p:cNvSpPr txBox="1"/>
          <p:nvPr/>
        </p:nvSpPr>
        <p:spPr>
          <a:xfrm>
            <a:off x="8724900" y="2516385"/>
            <a:ext cx="13802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躯干 · 4 DoFs</a:t>
            </a:r>
          </a:p>
        </p:txBody>
      </p:sp>
      <p:sp>
        <p:nvSpPr>
          <p:cNvPr id="24" name="段落 · 条件：Ea + 预测底盘动作"/>
          <p:cNvSpPr txBox="1"/>
          <p:nvPr/>
        </p:nvSpPr>
        <p:spPr>
          <a:xfrm>
            <a:off x="8724900" y="2871638"/>
            <a:ext cx="195515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条件：E</a:t>
            </a:r>
            <a:r>
              <a:rPr sz="877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+ 预测底盘动作</a:t>
            </a:r>
          </a:p>
        </p:txBody>
      </p:sp>
      <p:sp>
        <p:nvSpPr>
          <p:cNvPr id="25" name="段落 · 3"/>
          <p:cNvSpPr txBox="1"/>
          <p:nvPr/>
        </p:nvSpPr>
        <p:spPr>
          <a:xfrm>
            <a:off x="8401050" y="3604021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6" name="段落 · 双臂与夹爪 · 14 DoFs"/>
          <p:cNvSpPr txBox="1"/>
          <p:nvPr/>
        </p:nvSpPr>
        <p:spPr>
          <a:xfrm>
            <a:off x="8724900" y="3565921"/>
            <a:ext cx="20913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双臂与夹爪 · 14 DoFs</a:t>
            </a:r>
          </a:p>
        </p:txBody>
      </p:sp>
      <p:sp>
        <p:nvSpPr>
          <p:cNvPr id="27" name="段落 · 条件：Ea + 预测底盘动作 + 预测躯干动作"/>
          <p:cNvSpPr txBox="1"/>
          <p:nvPr/>
        </p:nvSpPr>
        <p:spPr>
          <a:xfrm>
            <a:off x="8724900" y="3921174"/>
            <a:ext cx="1955155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条件：E</a:t>
            </a:r>
            <a:r>
              <a:rPr sz="877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+ 预测底盘动作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+ 预测躯干动作</a:t>
            </a:r>
          </a:p>
        </p:txBody>
      </p:sp>
      <p:sp>
        <p:nvSpPr>
          <p:cNvPr id="28" name="段落 · 每组采用独立去噪网络；合成 21 自由度的全身动作序列。"/>
          <p:cNvSpPr txBox="1"/>
          <p:nvPr/>
        </p:nvSpPr>
        <p:spPr>
          <a:xfrm>
            <a:off x="8305800" y="4776341"/>
            <a:ext cx="2552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每组采用独立去噪网络；合成</a:t>
            </a:r>
            <a:br/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21 自由度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的全身动作序列。</a:t>
            </a:r>
          </a:p>
        </p:txBody>
      </p:sp>
      <p:sp>
        <p:nvSpPr>
          <p:cNvPr id="29" name="段落 · 解码顺序不等于执行顺序；这里的自回归发生 在部件之间。"/>
          <p:cNvSpPr txBox="1"/>
          <p:nvPr/>
        </p:nvSpPr>
        <p:spPr>
          <a:xfrm>
            <a:off x="8448675" y="5490716"/>
            <a:ext cx="3124348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解码顺序不等于执行顺序；这里的自回归发生</a:t>
            </a:r>
            <a:br/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在部件之间。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352550"/>
            <a:ext cx="2040135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352550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308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778323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300" y="1790700"/>
            <a:ext cx="179248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48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3548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624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548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3548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931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1864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864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4940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864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864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4247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180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180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256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180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180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2563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84965" y="1352550"/>
            <a:ext cx="2040135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84965" y="1352550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15576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4965" y="2778323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8496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8790" y="1790700"/>
            <a:ext cx="179248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2475" y="3567856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2475" y="4225081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2475" y="461084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2475" y="4891831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86425" y="3444031"/>
            <a:ext cx="1653926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86425" y="3901231"/>
            <a:ext cx="165392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40351" y="3444031"/>
            <a:ext cx="418489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40351" y="3901231"/>
            <a:ext cx="418489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86425" y="44108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40351" y="44108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86425" y="4420344"/>
            <a:ext cx="5838825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86425" y="49061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40351" y="49061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86425" y="54014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40351" y="54014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39590"/>
            <a:ext cx="1792485" cy="521343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10" y="1839568"/>
            <a:ext cx="1792634" cy="52138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470" y="1839568"/>
            <a:ext cx="1792634" cy="52138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630" y="1839568"/>
            <a:ext cx="1792634" cy="52138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790" y="1839590"/>
            <a:ext cx="1792485" cy="521343"/>
          </a:xfrm>
          <a:prstGeom prst="rect">
            <a:avLst/>
          </a:prstGeom>
        </p:spPr>
      </p:pic>
      <p:sp>
        <p:nvSpPr>
          <p:cNvPr id="55" name="段落 · 07. 训练、部署与评估设置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07. 训练、部署与评估设置</a:t>
            </a:r>
          </a:p>
        </p:txBody>
      </p:sp>
      <p:sp>
        <p:nvSpPr>
          <p:cNvPr id="56" name="段落 · 物品上架"/>
          <p:cNvSpPr txBox="1"/>
          <p:nvPr/>
        </p:nvSpPr>
        <p:spPr>
          <a:xfrm>
            <a:off x="87630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物品上架</a:t>
            </a:r>
          </a:p>
        </p:txBody>
      </p:sp>
      <p:sp>
        <p:nvSpPr>
          <p:cNvPr id="57" name="段落 · 100 条 · 60 s"/>
          <p:cNvSpPr txBox="1"/>
          <p:nvPr/>
        </p:nvSpPr>
        <p:spPr>
          <a:xfrm>
            <a:off x="876300" y="2457450"/>
            <a:ext cx="89490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100 条 · 60 s</a:t>
            </a:r>
          </a:p>
        </p:txBody>
      </p:sp>
      <p:sp>
        <p:nvSpPr>
          <p:cNvPr id="58" name="段落 · 清洁马桶"/>
          <p:cNvSpPr txBox="1"/>
          <p:nvPr/>
        </p:nvSpPr>
        <p:spPr>
          <a:xfrm>
            <a:off x="305931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清洁马桶</a:t>
            </a:r>
          </a:p>
        </p:txBody>
      </p:sp>
      <p:sp>
        <p:nvSpPr>
          <p:cNvPr id="59" name="段落 · 103 条 · 120 s"/>
          <p:cNvSpPr txBox="1"/>
          <p:nvPr/>
        </p:nvSpPr>
        <p:spPr>
          <a:xfrm>
            <a:off x="305931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103 条 · 120 s</a:t>
            </a:r>
          </a:p>
        </p:txBody>
      </p:sp>
      <p:sp>
        <p:nvSpPr>
          <p:cNvPr id="60" name="段落 · 铺放衣物"/>
          <p:cNvSpPr txBox="1"/>
          <p:nvPr/>
        </p:nvSpPr>
        <p:spPr>
          <a:xfrm>
            <a:off x="524247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铺放衣物</a:t>
            </a:r>
          </a:p>
        </p:txBody>
      </p:sp>
      <p:sp>
        <p:nvSpPr>
          <p:cNvPr id="61" name="段落 · 98 条 · 120 s"/>
          <p:cNvSpPr txBox="1"/>
          <p:nvPr/>
        </p:nvSpPr>
        <p:spPr>
          <a:xfrm>
            <a:off x="5242470" y="2457450"/>
            <a:ext cx="89490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98 条 · 120 s</a:t>
            </a:r>
          </a:p>
        </p:txBody>
      </p:sp>
      <p:sp>
        <p:nvSpPr>
          <p:cNvPr id="62" name="段落 · 派对后清理"/>
          <p:cNvSpPr txBox="1"/>
          <p:nvPr/>
        </p:nvSpPr>
        <p:spPr>
          <a:xfrm>
            <a:off x="7425630" y="1476375"/>
            <a:ext cx="88582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派对后清理</a:t>
            </a:r>
          </a:p>
        </p:txBody>
      </p:sp>
      <p:sp>
        <p:nvSpPr>
          <p:cNvPr id="63" name="段落 · 138 条 · 210 s"/>
          <p:cNvSpPr txBox="1"/>
          <p:nvPr/>
        </p:nvSpPr>
        <p:spPr>
          <a:xfrm>
            <a:off x="742563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138 条 · 210 s</a:t>
            </a:r>
          </a:p>
        </p:txBody>
      </p:sp>
      <p:sp>
        <p:nvSpPr>
          <p:cNvPr id="64" name="段落 · 将垃圾带出屋外"/>
          <p:cNvSpPr txBox="1"/>
          <p:nvPr/>
        </p:nvSpPr>
        <p:spPr>
          <a:xfrm>
            <a:off x="9608790" y="1476375"/>
            <a:ext cx="12096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将垃圾带出屋外</a:t>
            </a:r>
          </a:p>
        </p:txBody>
      </p:sp>
      <p:sp>
        <p:nvSpPr>
          <p:cNvPr id="65" name="段落 · 122 条 · 130 s"/>
          <p:cNvSpPr txBox="1"/>
          <p:nvPr/>
        </p:nvSpPr>
        <p:spPr>
          <a:xfrm>
            <a:off x="960879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122 条 · 130 s</a:t>
            </a:r>
          </a:p>
        </p:txBody>
      </p:sp>
      <p:sp>
        <p:nvSpPr>
          <p:cNvPr id="66" name="段落 · 训练与部署"/>
          <p:cNvSpPr txBox="1"/>
          <p:nvPr/>
        </p:nvSpPr>
        <p:spPr>
          <a:xfrm>
            <a:off x="752475" y="2987873"/>
            <a:ext cx="11715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训练与部署</a:t>
            </a:r>
          </a:p>
        </p:txBody>
      </p:sp>
      <p:sp>
        <p:nvSpPr>
          <p:cNvPr id="67" name="段落 · 给示范动作加噪，预测噪声；汇总三个解码器的 MSE 损 失。"/>
          <p:cNvSpPr txBox="1"/>
          <p:nvPr/>
        </p:nvSpPr>
        <p:spPr>
          <a:xfrm>
            <a:off x="914400" y="3444031"/>
            <a:ext cx="4500264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给示范动作加噪，预测噪声；汇总三个解码器的 MSE 损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失。</a:t>
            </a:r>
          </a:p>
        </p:txBody>
      </p:sp>
      <p:sp>
        <p:nvSpPr>
          <p:cNvPr id="68" name="段落 · 示范采集 10 Hz；每 0.1 s 更新动作；控制器 100 Hz。"/>
          <p:cNvSpPr txBox="1"/>
          <p:nvPr/>
        </p:nvSpPr>
        <p:spPr>
          <a:xfrm>
            <a:off x="914400" y="4101256"/>
            <a:ext cx="434875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示范采集 </a:t>
            </a:r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10 Hz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；每 </a:t>
            </a:r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0.1 s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 更新动作；控制器 </a:t>
            </a:r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100 Hz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69" name="段落 · RTX 4090 部署，论文报告有效延迟 0.02 s。"/>
          <p:cNvSpPr txBox="1"/>
          <p:nvPr/>
        </p:nvSpPr>
        <p:spPr>
          <a:xfrm>
            <a:off x="914400" y="4487019"/>
            <a:ext cx="35688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RTX 4090 部署，论文报告有效延迟 </a:t>
            </a:r>
            <a:r>
              <a:rPr sz="142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0.02 s</a:t>
            </a: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70" name="段落 · 上方为各任务示范条数及平均示范时长。"/>
          <p:cNvSpPr txBox="1"/>
          <p:nvPr/>
        </p:nvSpPr>
        <p:spPr>
          <a:xfrm>
            <a:off x="895350" y="4891831"/>
            <a:ext cx="28195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上方为各任务示范条数及平均示范时长。</a:t>
            </a:r>
          </a:p>
        </p:txBody>
      </p:sp>
      <p:sp>
        <p:nvSpPr>
          <p:cNvPr id="71" name="段落 · ST 与 ET：两种评估口径"/>
          <p:cNvSpPr txBox="1"/>
          <p:nvPr/>
        </p:nvSpPr>
        <p:spPr>
          <a:xfrm>
            <a:off x="5686425" y="2987873"/>
            <a:ext cx="244420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ST 与 ET：两种评估口径</a:t>
            </a:r>
          </a:p>
        </p:txBody>
      </p:sp>
      <p:sp>
        <p:nvSpPr>
          <p:cNvPr id="72" name="段落 · 指标"/>
          <p:cNvSpPr txBox="1"/>
          <p:nvPr/>
        </p:nvSpPr>
        <p:spPr>
          <a:xfrm>
            <a:off x="5810250" y="3548806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指标</a:t>
            </a:r>
          </a:p>
        </p:txBody>
      </p:sp>
      <p:sp>
        <p:nvSpPr>
          <p:cNvPr id="73" name="段落 · 定义"/>
          <p:cNvSpPr txBox="1"/>
          <p:nvPr/>
        </p:nvSpPr>
        <p:spPr>
          <a:xfrm>
            <a:off x="7464176" y="3548806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定义</a:t>
            </a:r>
          </a:p>
        </p:txBody>
      </p:sp>
      <p:sp>
        <p:nvSpPr>
          <p:cNvPr id="74" name="段落 · ST · 子任务"/>
          <p:cNvSpPr txBox="1"/>
          <p:nvPr/>
        </p:nvSpPr>
        <p:spPr>
          <a:xfrm>
            <a:off x="5810250" y="4044106"/>
            <a:ext cx="104001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ST · 子任务</a:t>
            </a:r>
          </a:p>
        </p:txBody>
      </p:sp>
      <p:sp>
        <p:nvSpPr>
          <p:cNvPr id="75" name="段落 · 失败后重置至下一子任务起点，继续测试。"/>
          <p:cNvSpPr txBox="1"/>
          <p:nvPr/>
        </p:nvSpPr>
        <p:spPr>
          <a:xfrm>
            <a:off x="7464176" y="4044106"/>
            <a:ext cx="33337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失败后重置至下一子任务起点，继续测试。</a:t>
            </a:r>
          </a:p>
        </p:txBody>
      </p:sp>
      <p:sp>
        <p:nvSpPr>
          <p:cNvPr id="76" name="段落 · ET · 完整任务"/>
          <p:cNvSpPr txBox="1"/>
          <p:nvPr/>
        </p:nvSpPr>
        <p:spPr>
          <a:xfrm>
            <a:off x="5810250" y="4539406"/>
            <a:ext cx="1213991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ET · 完整任务</a:t>
            </a:r>
          </a:p>
        </p:txBody>
      </p:sp>
      <p:sp>
        <p:nvSpPr>
          <p:cNvPr id="77" name="段落 · 要求整段任务连续成功完成。"/>
          <p:cNvSpPr txBox="1"/>
          <p:nvPr/>
        </p:nvSpPr>
        <p:spPr>
          <a:xfrm>
            <a:off x="7464176" y="4539406"/>
            <a:ext cx="23050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要求整段任务连续成功完成。</a:t>
            </a:r>
          </a:p>
        </p:txBody>
      </p:sp>
      <p:sp>
        <p:nvSpPr>
          <p:cNvPr id="78" name="段落 · 安全违规"/>
          <p:cNvSpPr txBox="1"/>
          <p:nvPr/>
        </p:nvSpPr>
        <p:spPr>
          <a:xfrm>
            <a:off x="5810250" y="5034706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安全违规</a:t>
            </a:r>
          </a:p>
        </p:txBody>
      </p:sp>
      <p:sp>
        <p:nvSpPr>
          <p:cNvPr id="79" name="段落 · 机器人碰撞，或过大力导致电机断电。"/>
          <p:cNvSpPr txBox="1"/>
          <p:nvPr/>
        </p:nvSpPr>
        <p:spPr>
          <a:xfrm>
            <a:off x="7464176" y="5034706"/>
            <a:ext cx="29908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机器人碰撞，或过大力导致电机断电。</a:t>
            </a:r>
          </a:p>
        </p:txBody>
      </p:sp>
      <p:sp>
        <p:nvSpPr>
          <p:cNvPr id="80" name="段落 · 每个策略通常评估 15 次；随机变化包括起始位置、物体摆放、实例和干扰"/>
          <p:cNvSpPr txBox="1"/>
          <p:nvPr/>
        </p:nvSpPr>
        <p:spPr>
          <a:xfrm>
            <a:off x="5686425" y="5568106"/>
            <a:ext cx="5800129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每个策略通常评估 15 次；随机变化包括起始位置、物体摆放、实例和干扰物，每项任</a:t>
            </a:r>
            <a:br/>
            <a:r>
              <a:rPr sz="12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务至少包含两种变化。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715125" cy="466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34300" y="2222152"/>
            <a:ext cx="1174700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42350" y="2222152"/>
            <a:ext cx="1174849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0549" y="2222152"/>
            <a:ext cx="1174700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34300" y="2830710"/>
            <a:ext cx="1785193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34300" y="3287910"/>
            <a:ext cx="1785193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19493" y="2830710"/>
            <a:ext cx="2005756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9493" y="3287910"/>
            <a:ext cx="200575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34300" y="3306960"/>
            <a:ext cx="3790949" cy="40481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34300" y="370224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9493" y="370224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4300" y="3711773"/>
            <a:ext cx="3790949" cy="4000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34300" y="410229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19493" y="410229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34300" y="450234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19493" y="450234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4300" y="4511873"/>
            <a:ext cx="3790949" cy="4000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34300" y="490239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9493" y="490239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4300" y="5069085"/>
            <a:ext cx="3790949" cy="7048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34300" y="5069085"/>
            <a:ext cx="38100" cy="7048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34300" y="5869185"/>
            <a:ext cx="28575" cy="442912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70" y="1352550"/>
            <a:ext cx="5878184" cy="4667101"/>
          </a:xfrm>
          <a:prstGeom prst="rect">
            <a:avLst/>
          </a:prstGeom>
        </p:spPr>
      </p:pic>
      <p:sp>
        <p:nvSpPr>
          <p:cNvPr id="28" name="段落 · 08. 对比实验：子任务与完整任务"/>
          <p:cNvSpPr txBox="1"/>
          <p:nvPr/>
        </p:nvSpPr>
        <p:spPr>
          <a:xfrm>
            <a:off x="752475" y="323850"/>
            <a:ext cx="444906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08. 对比实验：子任务与完整任务</a:t>
            </a:r>
          </a:p>
        </p:txBody>
      </p:sp>
      <p:sp>
        <p:nvSpPr>
          <p:cNvPr id="29" name="段落 · Fig. 5 · 五类任务、成功率、随机化设置及安全违规"/>
          <p:cNvSpPr txBox="1"/>
          <p:nvPr/>
        </p:nvSpPr>
        <p:spPr>
          <a:xfrm>
            <a:off x="752475" y="6086475"/>
            <a:ext cx="291137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5 · 五类任务、成功率、随机化设置及安全违规</a:t>
            </a:r>
          </a:p>
        </p:txBody>
      </p:sp>
      <p:sp>
        <p:nvSpPr>
          <p:cNvPr id="30" name="段落 · 88 %"/>
          <p:cNvSpPr txBox="1"/>
          <p:nvPr/>
        </p:nvSpPr>
        <p:spPr>
          <a:xfrm>
            <a:off x="7734300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88</a:t>
            </a:r>
            <a:br/>
            <a:r>
              <a:rPr sz="16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%</a:t>
            </a:r>
          </a:p>
        </p:txBody>
      </p:sp>
      <p:sp>
        <p:nvSpPr>
          <p:cNvPr id="31" name="段落 · 平均 ST"/>
          <p:cNvSpPr txBox="1"/>
          <p:nvPr/>
        </p:nvSpPr>
        <p:spPr>
          <a:xfrm>
            <a:off x="7734300" y="1879252"/>
            <a:ext cx="593973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平均 ST</a:t>
            </a:r>
          </a:p>
        </p:txBody>
      </p:sp>
      <p:sp>
        <p:nvSpPr>
          <p:cNvPr id="32" name="段落 · 58 %"/>
          <p:cNvSpPr txBox="1"/>
          <p:nvPr/>
        </p:nvSpPr>
        <p:spPr>
          <a:xfrm>
            <a:off x="9042350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58</a:t>
            </a:r>
            <a:br/>
            <a:r>
              <a:rPr sz="16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%</a:t>
            </a:r>
          </a:p>
        </p:txBody>
      </p:sp>
      <p:sp>
        <p:nvSpPr>
          <p:cNvPr id="33" name="段落 · 平均 ET"/>
          <p:cNvSpPr txBox="1"/>
          <p:nvPr/>
        </p:nvSpPr>
        <p:spPr>
          <a:xfrm>
            <a:off x="9042350" y="1879252"/>
            <a:ext cx="596205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平均 ET</a:t>
            </a:r>
          </a:p>
        </p:txBody>
      </p:sp>
      <p:sp>
        <p:nvSpPr>
          <p:cNvPr id="34" name="段落 · 93 %"/>
          <p:cNvSpPr txBox="1"/>
          <p:nvPr/>
        </p:nvSpPr>
        <p:spPr>
          <a:xfrm>
            <a:off x="10350549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93</a:t>
            </a:r>
            <a:br/>
            <a:r>
              <a:rPr sz="16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%</a:t>
            </a:r>
          </a:p>
        </p:txBody>
      </p:sp>
      <p:sp>
        <p:nvSpPr>
          <p:cNvPr id="35" name="段落 · 最佳任务 ET"/>
          <p:cNvSpPr txBox="1"/>
          <p:nvPr/>
        </p:nvSpPr>
        <p:spPr>
          <a:xfrm>
            <a:off x="10350549" y="1879252"/>
            <a:ext cx="901005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最佳任务 ET</a:t>
            </a:r>
          </a:p>
        </p:txBody>
      </p:sp>
      <p:sp>
        <p:nvSpPr>
          <p:cNvPr id="36" name="段落 · 物品上架 · ET 成功次数"/>
          <p:cNvSpPr txBox="1"/>
          <p:nvPr/>
        </p:nvSpPr>
        <p:spPr>
          <a:xfrm>
            <a:off x="7734300" y="2374552"/>
            <a:ext cx="245536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物品上架 · ET 成功次数</a:t>
            </a:r>
          </a:p>
        </p:txBody>
      </p:sp>
      <p:sp>
        <p:nvSpPr>
          <p:cNvPr id="37" name="段落 · 方法"/>
          <p:cNvSpPr txBox="1"/>
          <p:nvPr/>
        </p:nvSpPr>
        <p:spPr>
          <a:xfrm>
            <a:off x="7858125" y="2935485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方法</a:t>
            </a:r>
          </a:p>
        </p:txBody>
      </p:sp>
      <p:sp>
        <p:nvSpPr>
          <p:cNvPr id="38" name="段落 · 成功 / 试验"/>
          <p:cNvSpPr txBox="1"/>
          <p:nvPr/>
        </p:nvSpPr>
        <p:spPr>
          <a:xfrm>
            <a:off x="9643318" y="2935485"/>
            <a:ext cx="9060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成功 / 试验</a:t>
            </a:r>
          </a:p>
        </p:txBody>
      </p:sp>
      <p:sp>
        <p:nvSpPr>
          <p:cNvPr id="39" name="段落 · WB-VIMA"/>
          <p:cNvSpPr txBox="1"/>
          <p:nvPr/>
        </p:nvSpPr>
        <p:spPr>
          <a:xfrm>
            <a:off x="7858125" y="3383160"/>
            <a:ext cx="78759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WB-VIMA</a:t>
            </a:r>
          </a:p>
        </p:txBody>
      </p:sp>
      <p:sp>
        <p:nvSpPr>
          <p:cNvPr id="40" name="段落 · 14 / 15"/>
          <p:cNvSpPr txBox="1"/>
          <p:nvPr/>
        </p:nvSpPr>
        <p:spPr>
          <a:xfrm>
            <a:off x="9643318" y="3383160"/>
            <a:ext cx="60096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14 / 15</a:t>
            </a:r>
          </a:p>
        </p:txBody>
      </p:sp>
      <p:sp>
        <p:nvSpPr>
          <p:cNvPr id="41" name="段落 · DP3"/>
          <p:cNvSpPr txBox="1"/>
          <p:nvPr/>
        </p:nvSpPr>
        <p:spPr>
          <a:xfrm>
            <a:off x="7858125" y="3783210"/>
            <a:ext cx="39796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DP3</a:t>
            </a:r>
          </a:p>
        </p:txBody>
      </p:sp>
      <p:sp>
        <p:nvSpPr>
          <p:cNvPr id="42" name="段落 · 3 / 15"/>
          <p:cNvSpPr txBox="1"/>
          <p:nvPr/>
        </p:nvSpPr>
        <p:spPr>
          <a:xfrm>
            <a:off x="9643318" y="378321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3 / 15</a:t>
            </a:r>
          </a:p>
        </p:txBody>
      </p:sp>
      <p:sp>
        <p:nvSpPr>
          <p:cNvPr id="43" name="段落 · RGB-DP"/>
          <p:cNvSpPr txBox="1"/>
          <p:nvPr/>
        </p:nvSpPr>
        <p:spPr>
          <a:xfrm>
            <a:off x="7858125" y="4183260"/>
            <a:ext cx="70187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RGB-DP</a:t>
            </a:r>
          </a:p>
        </p:txBody>
      </p:sp>
      <p:sp>
        <p:nvSpPr>
          <p:cNvPr id="44" name="段落 · 2 / 15"/>
          <p:cNvSpPr txBox="1"/>
          <p:nvPr/>
        </p:nvSpPr>
        <p:spPr>
          <a:xfrm>
            <a:off x="9643318" y="418326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2 / 15</a:t>
            </a:r>
          </a:p>
        </p:txBody>
      </p:sp>
      <p:sp>
        <p:nvSpPr>
          <p:cNvPr id="45" name="段落 · ACT"/>
          <p:cNvSpPr txBox="1"/>
          <p:nvPr/>
        </p:nvSpPr>
        <p:spPr>
          <a:xfrm>
            <a:off x="7858125" y="4583310"/>
            <a:ext cx="3872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ACT</a:t>
            </a:r>
          </a:p>
        </p:txBody>
      </p:sp>
      <p:sp>
        <p:nvSpPr>
          <p:cNvPr id="46" name="段落 · 0 / 15"/>
          <p:cNvSpPr txBox="1"/>
          <p:nvPr/>
        </p:nvSpPr>
        <p:spPr>
          <a:xfrm>
            <a:off x="9643318" y="458331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0 / 15</a:t>
            </a:r>
          </a:p>
        </p:txBody>
      </p:sp>
      <p:sp>
        <p:nvSpPr>
          <p:cNvPr id="47" name="段落 · 高 ST ≠ 高 ET 单阶段表现较好，长任务仍存在误差累积。"/>
          <p:cNvSpPr txBox="1"/>
          <p:nvPr/>
        </p:nvSpPr>
        <p:spPr>
          <a:xfrm>
            <a:off x="7915275" y="5164335"/>
            <a:ext cx="333375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高 ST ≠ 高 ET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单阶段表现较好，长任务仍存在误差累积。</a:t>
            </a:r>
          </a:p>
        </p:txBody>
      </p:sp>
      <p:sp>
        <p:nvSpPr>
          <p:cNvPr id="48" name="段落 · 93% 是最佳任务 ET。基线差异不能单独归因于某一模 块。"/>
          <p:cNvSpPr txBox="1"/>
          <p:nvPr/>
        </p:nvSpPr>
        <p:spPr>
          <a:xfrm>
            <a:off x="7877175" y="5878710"/>
            <a:ext cx="3457723" cy="516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93% 是最佳任务 ET。基线差异不能单独归因于某一模</a:t>
            </a:r>
            <a:br/>
            <a:r>
              <a:rPr sz="1125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4810125" cy="422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9300" y="1780133"/>
            <a:ext cx="2618779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9300" y="2223045"/>
            <a:ext cx="2618779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48079" y="1780133"/>
            <a:ext cx="1538436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48079" y="2223045"/>
            <a:ext cx="153843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86516" y="1780133"/>
            <a:ext cx="1538733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6516" y="2223045"/>
            <a:ext cx="1538733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9300" y="2680245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48079" y="2680245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86516" y="2680245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29300" y="2689770"/>
            <a:ext cx="5695950" cy="44291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29300" y="3123158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48079" y="3123158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86516" y="3123158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9300" y="3566070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8079" y="3566070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86516" y="3566070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29300" y="3732758"/>
            <a:ext cx="5695950" cy="1079152"/>
          </a:xfrm>
          <a:prstGeom prst="roundRect">
            <a:avLst>
              <a:gd name="adj" fmla="val 882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29300" y="3732758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15725" y="3732758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9300" y="4802385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29300" y="3732758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9300" y="4907160"/>
            <a:ext cx="5695950" cy="1079152"/>
          </a:xfrm>
          <a:prstGeom prst="roundRect">
            <a:avLst>
              <a:gd name="adj" fmla="val 882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29300" y="4907160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15725" y="4907160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29300" y="5976788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29300" y="4907160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29300" y="6081563"/>
            <a:ext cx="28575" cy="221456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14" y="1352550"/>
            <a:ext cx="4202846" cy="4228951"/>
          </a:xfrm>
          <a:prstGeom prst="rect">
            <a:avLst/>
          </a:prstGeom>
        </p:spPr>
      </p:pic>
      <p:sp>
        <p:nvSpPr>
          <p:cNvPr id="34" name="段落 · 09. 模块消融：两个设计是否有效？"/>
          <p:cNvSpPr txBox="1"/>
          <p:nvPr/>
        </p:nvSpPr>
        <p:spPr>
          <a:xfrm>
            <a:off x="752475" y="323850"/>
            <a:ext cx="47491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09. 模块消融：两个设计是否有效？</a:t>
            </a:r>
          </a:p>
        </p:txBody>
      </p:sp>
      <p:sp>
        <p:nvSpPr>
          <p:cNvPr id="35" name="段落 · Fig. 6 · 实机消融，保留图例与安全违规统计"/>
          <p:cNvSpPr txBox="1"/>
          <p:nvPr/>
        </p:nvSpPr>
        <p:spPr>
          <a:xfrm>
            <a:off x="752475" y="5648325"/>
            <a:ext cx="253990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6 · 实机消融，保留图例与安全违规统计</a:t>
            </a:r>
          </a:p>
        </p:txBody>
      </p:sp>
      <p:sp>
        <p:nvSpPr>
          <p:cNvPr id="36" name="段落 · 完整模型 / 无自回归解码 / 无多模态注意力"/>
          <p:cNvSpPr txBox="1"/>
          <p:nvPr/>
        </p:nvSpPr>
        <p:spPr>
          <a:xfrm>
            <a:off x="752475" y="5907285"/>
            <a:ext cx="2923133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完整模型 / 无自回归解码 / 无多模态注意力</a:t>
            </a:r>
          </a:p>
        </p:txBody>
      </p:sp>
      <p:sp>
        <p:nvSpPr>
          <p:cNvPr id="37" name="段落 · 完整任务成功次数（ET）"/>
          <p:cNvSpPr txBox="1"/>
          <p:nvPr/>
        </p:nvSpPr>
        <p:spPr>
          <a:xfrm>
            <a:off x="5829300" y="1323975"/>
            <a:ext cx="252725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完整任务成功次数（ET）</a:t>
            </a:r>
          </a:p>
        </p:txBody>
      </p:sp>
      <p:sp>
        <p:nvSpPr>
          <p:cNvPr id="38" name="段落 · 模型"/>
          <p:cNvSpPr txBox="1"/>
          <p:nvPr/>
        </p:nvSpPr>
        <p:spPr>
          <a:xfrm>
            <a:off x="5953125" y="1884908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模型</a:t>
            </a:r>
          </a:p>
        </p:txBody>
      </p:sp>
      <p:sp>
        <p:nvSpPr>
          <p:cNvPr id="39" name="段落 · 物品上架"/>
          <p:cNvSpPr txBox="1"/>
          <p:nvPr/>
        </p:nvSpPr>
        <p:spPr>
          <a:xfrm>
            <a:off x="8571904" y="1884908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物品上架</a:t>
            </a:r>
          </a:p>
        </p:txBody>
      </p:sp>
      <p:sp>
        <p:nvSpPr>
          <p:cNvPr id="40" name="段落 · 铺放衣物"/>
          <p:cNvSpPr txBox="1"/>
          <p:nvPr/>
        </p:nvSpPr>
        <p:spPr>
          <a:xfrm>
            <a:off x="10110341" y="1884908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铺放衣物</a:t>
            </a:r>
          </a:p>
        </p:txBody>
      </p:sp>
      <p:sp>
        <p:nvSpPr>
          <p:cNvPr id="41" name="段落 · 完整模型"/>
          <p:cNvSpPr txBox="1"/>
          <p:nvPr/>
        </p:nvSpPr>
        <p:spPr>
          <a:xfrm>
            <a:off x="5943600" y="2346870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完整模型</a:t>
            </a:r>
          </a:p>
        </p:txBody>
      </p:sp>
      <p:sp>
        <p:nvSpPr>
          <p:cNvPr id="42" name="段落 · 14 / 15"/>
          <p:cNvSpPr txBox="1"/>
          <p:nvPr/>
        </p:nvSpPr>
        <p:spPr>
          <a:xfrm>
            <a:off x="8562379" y="2346870"/>
            <a:ext cx="57179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14 / 15</a:t>
            </a:r>
          </a:p>
        </p:txBody>
      </p:sp>
      <p:sp>
        <p:nvSpPr>
          <p:cNvPr id="43" name="段落 · 8 / 15"/>
          <p:cNvSpPr txBox="1"/>
          <p:nvPr/>
        </p:nvSpPr>
        <p:spPr>
          <a:xfrm>
            <a:off x="10100816" y="2346870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8 / 15</a:t>
            </a:r>
          </a:p>
        </p:txBody>
      </p:sp>
      <p:sp>
        <p:nvSpPr>
          <p:cNvPr id="44" name="段落 · 无自回归动作解码"/>
          <p:cNvSpPr txBox="1"/>
          <p:nvPr/>
        </p:nvSpPr>
        <p:spPr>
          <a:xfrm>
            <a:off x="5943600" y="2789783"/>
            <a:ext cx="13716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无自回归动作解码</a:t>
            </a:r>
          </a:p>
        </p:txBody>
      </p:sp>
      <p:sp>
        <p:nvSpPr>
          <p:cNvPr id="45" name="段落 · 6 / 15"/>
          <p:cNvSpPr txBox="1"/>
          <p:nvPr/>
        </p:nvSpPr>
        <p:spPr>
          <a:xfrm>
            <a:off x="8562379" y="2789783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6 / 15</a:t>
            </a:r>
          </a:p>
        </p:txBody>
      </p:sp>
      <p:sp>
        <p:nvSpPr>
          <p:cNvPr id="46" name="段落 · 2 / 15"/>
          <p:cNvSpPr txBox="1"/>
          <p:nvPr/>
        </p:nvSpPr>
        <p:spPr>
          <a:xfrm>
            <a:off x="10100816" y="2789783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2 / 15</a:t>
            </a:r>
          </a:p>
        </p:txBody>
      </p:sp>
      <p:sp>
        <p:nvSpPr>
          <p:cNvPr id="47" name="段落 · 无多模态注意力"/>
          <p:cNvSpPr txBox="1"/>
          <p:nvPr/>
        </p:nvSpPr>
        <p:spPr>
          <a:xfrm>
            <a:off x="5943600" y="3232695"/>
            <a:ext cx="12096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无多模态注意力</a:t>
            </a:r>
          </a:p>
        </p:txBody>
      </p:sp>
      <p:sp>
        <p:nvSpPr>
          <p:cNvPr id="48" name="段落 · 2 / 15"/>
          <p:cNvSpPr txBox="1"/>
          <p:nvPr/>
        </p:nvSpPr>
        <p:spPr>
          <a:xfrm>
            <a:off x="8562379" y="3232695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2 / 15</a:t>
            </a:r>
          </a:p>
        </p:txBody>
      </p:sp>
      <p:sp>
        <p:nvSpPr>
          <p:cNvPr id="49" name="段落 · 0 / 15"/>
          <p:cNvSpPr txBox="1"/>
          <p:nvPr/>
        </p:nvSpPr>
        <p:spPr>
          <a:xfrm>
            <a:off x="10100816" y="3232695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0 / 15</a:t>
            </a:r>
          </a:p>
        </p:txBody>
      </p:sp>
      <p:sp>
        <p:nvSpPr>
          <p:cNvPr id="50" name="段落 · 动作依赖建模"/>
          <p:cNvSpPr txBox="1"/>
          <p:nvPr/>
        </p:nvSpPr>
        <p:spPr>
          <a:xfrm>
            <a:off x="6000750" y="3837533"/>
            <a:ext cx="12763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动作依赖建模</a:t>
            </a:r>
          </a:p>
        </p:txBody>
      </p:sp>
      <p:sp>
        <p:nvSpPr>
          <p:cNvPr id="51" name="段落 · 移除自回归动作解码后，上架 ET 从约 93% 降到 40%，下降约 "/>
          <p:cNvSpPr txBox="1"/>
          <p:nvPr/>
        </p:nvSpPr>
        <p:spPr>
          <a:xfrm>
            <a:off x="6000750" y="4173735"/>
            <a:ext cx="5378946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移除自回归动作解码后，上架 ET 从约 93% 降到 40%，下降约 </a:t>
            </a:r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53 个百</a:t>
            </a:r>
            <a:br/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分点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52" name="段落 · 多模态特征融合"/>
          <p:cNvSpPr txBox="1"/>
          <p:nvPr/>
        </p:nvSpPr>
        <p:spPr>
          <a:xfrm>
            <a:off x="6000750" y="5011935"/>
            <a:ext cx="147637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多模态特征融合</a:t>
            </a:r>
          </a:p>
        </p:txBody>
      </p:sp>
      <p:sp>
        <p:nvSpPr>
          <p:cNvPr id="53" name="段落 · 移除注意力后，两类任务的 ET 均下降；铺衣任务记录到 4 次安全违 "/>
          <p:cNvSpPr txBox="1"/>
          <p:nvPr/>
        </p:nvSpPr>
        <p:spPr>
          <a:xfrm>
            <a:off x="6000750" y="5348138"/>
            <a:ext cx="5157787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移除注意力后，两类任务的 ET 均下降；铺衣任务记录到 4 次安全违</a:t>
            </a:r>
            <a:br/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规。</a:t>
            </a:r>
          </a:p>
        </p:txBody>
      </p:sp>
      <p:sp>
        <p:nvSpPr>
          <p:cNvPr id="54" name="段落 · 无注意力不等于删除视觉；违规较少不构成安全保证。仿真验证见备用页 C。"/>
          <p:cNvSpPr txBox="1"/>
          <p:nvPr/>
        </p:nvSpPr>
        <p:spPr>
          <a:xfrm>
            <a:off x="5972175" y="6091088"/>
            <a:ext cx="4914304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无注意力不等于删除视觉；违规较少不构成安全保证。仿真验证见备用页 C。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780133"/>
            <a:ext cx="5253037" cy="2600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475371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2475" y="52013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5525244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2212" y="1780133"/>
            <a:ext cx="5253037" cy="224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2212" y="44012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212" y="48489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212" y="5477619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780133"/>
            <a:ext cx="3900487" cy="2600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507" y="2257425"/>
            <a:ext cx="5252448" cy="1293316"/>
          </a:xfrm>
          <a:prstGeom prst="rect">
            <a:avLst/>
          </a:prstGeom>
        </p:spPr>
      </p:pic>
      <p:sp>
        <p:nvSpPr>
          <p:cNvPr id="15" name="段落 · 10. 遥操作与身体协调验证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10. 遥操作与身体协调验证</a:t>
            </a:r>
          </a:p>
        </p:txBody>
      </p:sp>
      <p:sp>
        <p:nvSpPr>
          <p:cNvPr id="16" name="段落 · JoyLo 用户研究 · Fig. 8"/>
          <p:cNvSpPr txBox="1"/>
          <p:nvPr/>
        </p:nvSpPr>
        <p:spPr>
          <a:xfrm>
            <a:off x="752475" y="1323975"/>
            <a:ext cx="246727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JoyLo 用户研究 · Fig. 8</a:t>
            </a:r>
          </a:p>
        </p:txBody>
      </p:sp>
      <p:sp>
        <p:nvSpPr>
          <p:cNvPr id="17" name="段落 · 10 位参与者 · OmniGibson · 派对后清理任务"/>
          <p:cNvSpPr txBox="1"/>
          <p:nvPr/>
        </p:nvSpPr>
        <p:spPr>
          <a:xfrm>
            <a:off x="752475" y="4447133"/>
            <a:ext cx="268262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10 位参与者 · OmniGibson · 派对后清理任务</a:t>
            </a:r>
          </a:p>
        </p:txBody>
      </p:sp>
      <p:sp>
        <p:nvSpPr>
          <p:cNvPr id="18" name="段落 · 比较 JoyLo、VR 控制器与 Apple Vision Pro。"/>
          <p:cNvSpPr txBox="1"/>
          <p:nvPr/>
        </p:nvSpPr>
        <p:spPr>
          <a:xfrm>
            <a:off x="914400" y="4639419"/>
            <a:ext cx="393099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比较 JoyLo、VR 控制器与 Apple Vision Pro。</a:t>
            </a:r>
          </a:p>
        </p:txBody>
      </p:sp>
      <p:sp>
        <p:nvSpPr>
          <p:cNvPr id="19" name="段落 · 相较 VR：完整任务成功率约 5 倍；中位完成时间缩短 23%。"/>
          <p:cNvSpPr txBox="1"/>
          <p:nvPr/>
        </p:nvSpPr>
        <p:spPr>
          <a:xfrm>
            <a:off x="914400" y="5087094"/>
            <a:ext cx="516135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相较 VR：完整任务成功率约 </a:t>
            </a: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5 倍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；中位完成时间缩短 </a:t>
            </a: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23%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20" name="段落 · 回放成功率衡量轨迹质量，不能直接证明学习策略更好。"/>
          <p:cNvSpPr txBox="1"/>
          <p:nvPr/>
        </p:nvSpPr>
        <p:spPr>
          <a:xfrm>
            <a:off x="895350" y="5525244"/>
            <a:ext cx="38863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回放成功率衡量轨迹质量，不能直接证明学习策略更好。</a:t>
            </a:r>
          </a:p>
        </p:txBody>
      </p:sp>
      <p:sp>
        <p:nvSpPr>
          <p:cNvPr id="21" name="段落 · 部件锁定实验 · Fig. 9"/>
          <p:cNvSpPr txBox="1"/>
          <p:nvPr/>
        </p:nvSpPr>
        <p:spPr>
          <a:xfrm>
            <a:off x="6272212" y="1323975"/>
            <a:ext cx="224417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部件锁定实验 · Fig. 9</a:t>
            </a:r>
          </a:p>
        </p:txBody>
      </p:sp>
      <p:sp>
        <p:nvSpPr>
          <p:cNvPr id="22" name="段落 · 开门 / 打开洗碗机 · 身体部件可动与锁定对照"/>
          <p:cNvSpPr txBox="1"/>
          <p:nvPr/>
        </p:nvSpPr>
        <p:spPr>
          <a:xfrm>
            <a:off x="6272212" y="4094708"/>
            <a:ext cx="258841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开门 / 打开洗碗机 · 身体部件可动与锁定对照</a:t>
            </a:r>
          </a:p>
        </p:txBody>
      </p:sp>
      <p:sp>
        <p:nvSpPr>
          <p:cNvPr id="23" name="段落 · 开门时协调髋部与底盘；打开洗碗机时底盘后移。"/>
          <p:cNvSpPr txBox="1"/>
          <p:nvPr/>
        </p:nvSpPr>
        <p:spPr>
          <a:xfrm>
            <a:off x="6434137" y="4286994"/>
            <a:ext cx="4267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开门时协调髋部与底盘；打开洗碗机时底盘后移。</a:t>
            </a:r>
          </a:p>
        </p:txBody>
      </p:sp>
      <p:sp>
        <p:nvSpPr>
          <p:cNvPr id="24" name="段落 · 锁定相关部件后，案例中的操作失败，机械臂关节负载上 升。"/>
          <p:cNvSpPr txBox="1"/>
          <p:nvPr/>
        </p:nvSpPr>
        <p:spPr>
          <a:xfrm>
            <a:off x="6434137" y="4734669"/>
            <a:ext cx="4838700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锁定相关部件后，案例中的操作失败，机械臂关节负载上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升。</a:t>
            </a:r>
          </a:p>
        </p:txBody>
      </p:sp>
      <p:sp>
        <p:nvSpPr>
          <p:cNvPr id="25" name="段落 · 结论限于这些交互案例；负载上升不等于已发生硬件损坏。"/>
          <p:cNvSpPr txBox="1"/>
          <p:nvPr/>
        </p:nvSpPr>
        <p:spPr>
          <a:xfrm>
            <a:off x="6415087" y="5477619"/>
            <a:ext cx="40387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56677A"/>
                </a:solidFill>
                <a:latin typeface="Noto Sans CJK SC"/>
                <a:ea typeface="Noto Sans CJK SC"/>
              </a:rPr>
              <a:t>结论限于这些交互案例；负载上升不等于已发生硬件损坏。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1912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0425" y="19039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10425" y="265643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10425" y="310410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0425" y="355178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10425" y="4189958"/>
            <a:ext cx="4314825" cy="1151334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10425" y="4189958"/>
            <a:ext cx="38100" cy="1151334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13" y="1359842"/>
            <a:ext cx="6190973" cy="3033266"/>
          </a:xfrm>
          <a:prstGeom prst="rect">
            <a:avLst/>
          </a:prstGeom>
        </p:spPr>
      </p:pic>
      <p:sp>
        <p:nvSpPr>
          <p:cNvPr id="13" name="段落 · 11. 优点与局限：失败发生在哪里？"/>
          <p:cNvSpPr txBox="1"/>
          <p:nvPr/>
        </p:nvSpPr>
        <p:spPr>
          <a:xfrm>
            <a:off x="752475" y="323850"/>
            <a:ext cx="47491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11. 优点与局限：失败发生在哪里？</a:t>
            </a:r>
          </a:p>
        </p:txBody>
      </p:sp>
      <p:sp>
        <p:nvSpPr>
          <p:cNvPr id="14" name="段落 · Fig. 10 · 左：JoyLo 数据采集；右：自主策略回放；S /"/>
          <p:cNvSpPr txBox="1"/>
          <p:nvPr/>
        </p:nvSpPr>
        <p:spPr>
          <a:xfrm>
            <a:off x="752475" y="4467225"/>
            <a:ext cx="422701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10 · 左：JoyLo 数据采集；右：自主策略回放；S / F 为成功 / 失败次数</a:t>
            </a:r>
          </a:p>
        </p:txBody>
      </p:sp>
      <p:sp>
        <p:nvSpPr>
          <p:cNvPr id="15" name="段落 · 系统优点 · 基于论文内容概括"/>
          <p:cNvSpPr txBox="1"/>
          <p:nvPr/>
        </p:nvSpPr>
        <p:spPr>
          <a:xfrm>
            <a:off x="752475" y="4621410"/>
            <a:ext cx="302240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系统优点 · 基于论文内容概括</a:t>
            </a:r>
          </a:p>
        </p:txBody>
      </p:sp>
      <p:sp>
        <p:nvSpPr>
          <p:cNvPr id="16" name="段落 · 采集与学习衔接完整；动作依赖设计明确； 有基线和消融支撑，并公开工程流"/>
          <p:cNvSpPr txBox="1"/>
          <p:nvPr/>
        </p:nvSpPr>
        <p:spPr>
          <a:xfrm>
            <a:off x="752475" y="5087094"/>
            <a:ext cx="3695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采集与学习衔接完整；动作依赖设计明确；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有基线和消融支撑，并公开工程流程。</a:t>
            </a:r>
          </a:p>
        </p:txBody>
      </p:sp>
      <p:sp>
        <p:nvSpPr>
          <p:cNvPr id="17" name="段落 · 作者明确指出的局限"/>
          <p:cNvSpPr txBox="1"/>
          <p:nvPr/>
        </p:nvSpPr>
        <p:spPr>
          <a:xfrm>
            <a:off x="7210425" y="1323975"/>
            <a:ext cx="20478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作者明确指出的局限</a:t>
            </a:r>
          </a:p>
        </p:txBody>
      </p:sp>
      <p:sp>
        <p:nvSpPr>
          <p:cNvPr id="18" name="段落 · 视野不一致：操作者第三人称观察与机器人相机 视野不同。"/>
          <p:cNvSpPr txBox="1"/>
          <p:nvPr/>
        </p:nvSpPr>
        <p:spPr>
          <a:xfrm>
            <a:off x="7372350" y="1789658"/>
            <a:ext cx="4076699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视野不一致：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操作者第三人称观察与机器人相机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视野不同。</a:t>
            </a:r>
          </a:p>
        </p:txBody>
      </p:sp>
      <p:sp>
        <p:nvSpPr>
          <p:cNvPr id="19" name="段落 · 长任务误差累积：较高 ST 仍可能对应较低 ET。"/>
          <p:cNvSpPr txBox="1"/>
          <p:nvPr/>
        </p:nvSpPr>
        <p:spPr>
          <a:xfrm>
            <a:off x="7372350" y="2542133"/>
            <a:ext cx="408309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长任务误差累积：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较高 ST 仍可能对应较低 ET。</a:t>
            </a:r>
          </a:p>
        </p:txBody>
      </p:sp>
      <p:sp>
        <p:nvSpPr>
          <p:cNvPr id="20" name="段落 · 点云不完善：受光照及反光表面影响。"/>
          <p:cNvSpPr txBox="1"/>
          <p:nvPr/>
        </p:nvSpPr>
        <p:spPr>
          <a:xfrm>
            <a:off x="7372350" y="2989808"/>
            <a:ext cx="3314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点云不完善：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受光照及反光表面影响。</a:t>
            </a:r>
          </a:p>
        </p:txBody>
      </p:sp>
      <p:sp>
        <p:nvSpPr>
          <p:cNvPr id="21" name="段落 · 数据局限：仅用 R1 数据，场景泛化数据可能不 足。"/>
          <p:cNvSpPr txBox="1"/>
          <p:nvPr/>
        </p:nvSpPr>
        <p:spPr>
          <a:xfrm>
            <a:off x="7372350" y="3437483"/>
            <a:ext cx="4007792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数据局限：</a:t>
            </a: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仅用 R1 数据，场景泛化数据可能不</a:t>
            </a:r>
            <a:br/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足。</a:t>
            </a:r>
          </a:p>
        </p:txBody>
      </p:sp>
      <p:sp>
        <p:nvSpPr>
          <p:cNvPr id="22" name="段落 · 阅读评价 · 据大纲"/>
          <p:cNvSpPr txBox="1"/>
          <p:nvPr/>
        </p:nvSpPr>
        <p:spPr>
          <a:xfrm>
            <a:off x="7410449" y="4323308"/>
            <a:ext cx="168562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阅读评价 · 据大纲</a:t>
            </a:r>
          </a:p>
        </p:txBody>
      </p:sp>
      <p:sp>
        <p:nvSpPr>
          <p:cNvPr id="23" name="段落 · 完整任务可靠性、跨场景与跨平台泛化仍需进一 步验证。"/>
          <p:cNvSpPr txBox="1"/>
          <p:nvPr/>
        </p:nvSpPr>
        <p:spPr>
          <a:xfrm>
            <a:off x="7410449" y="4656683"/>
            <a:ext cx="3876823" cy="6328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完整任务可靠性、跨场景与跨平台泛化仍需进一</a:t>
            </a:r>
            <a:br/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步验证。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819275"/>
            <a:ext cx="1477714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819275"/>
            <a:ext cx="1477714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20664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295525"/>
            <a:ext cx="1477714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11338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1338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9676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11338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1338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0350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70350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38688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70350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0350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9362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9362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7700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9362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9362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8374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8374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6712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8374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8374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47386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7386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15725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47386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47386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2475" y="2571750"/>
            <a:ext cx="5253037" cy="125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2475" y="46298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2475" y="50775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212" y="2999333"/>
            <a:ext cx="232171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212" y="3456533"/>
            <a:ext cx="232171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3931" y="2999333"/>
            <a:ext cx="293131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3931" y="3456533"/>
            <a:ext cx="293131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2212" y="39661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3931" y="39661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72212" y="3975645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2212" y="44614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3931" y="44614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2212" y="49567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93931" y="49567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2212" y="5123408"/>
            <a:ext cx="5253037" cy="58519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212" y="5123408"/>
            <a:ext cx="38100" cy="585192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51" y="2906315"/>
            <a:ext cx="5252483" cy="588168"/>
          </a:xfrm>
          <a:prstGeom prst="rect">
            <a:avLst/>
          </a:prstGeom>
        </p:spPr>
      </p:pic>
      <p:sp>
        <p:nvSpPr>
          <p:cNvPr id="52" name="段落 · 12. 与档案存取项目的对应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12. 与档案存取项目的对应</a:t>
            </a:r>
          </a:p>
        </p:txBody>
      </p:sp>
      <p:sp>
        <p:nvSpPr>
          <p:cNvPr id="53" name="段落 · 项目讨论 · 以下初始方案来自用户大纲，不属于论文实验结果"/>
          <p:cNvSpPr txBox="1"/>
          <p:nvPr/>
        </p:nvSpPr>
        <p:spPr>
          <a:xfrm>
            <a:off x="752475" y="1352550"/>
            <a:ext cx="425931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项目讨论 · 以下初始方案来自用户大纲，不属于论文实验结果</a:t>
            </a:r>
          </a:p>
        </p:txBody>
      </p:sp>
      <p:sp>
        <p:nvSpPr>
          <p:cNvPr id="54" name="段落 · 到柜前"/>
          <p:cNvSpPr txBox="1"/>
          <p:nvPr/>
        </p:nvSpPr>
        <p:spPr>
          <a:xfrm>
            <a:off x="1248370" y="1943100"/>
            <a:ext cx="5619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到柜前</a:t>
            </a:r>
          </a:p>
        </p:txBody>
      </p:sp>
      <p:sp>
        <p:nvSpPr>
          <p:cNvPr id="55" name="段落 · →"/>
          <p:cNvSpPr txBox="1"/>
          <p:nvPr/>
        </p:nvSpPr>
        <p:spPr>
          <a:xfrm>
            <a:off x="2296864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56" name="段落 · 停稳与定位"/>
          <p:cNvSpPr txBox="1"/>
          <p:nvPr/>
        </p:nvSpPr>
        <p:spPr>
          <a:xfrm>
            <a:off x="2945457" y="1943100"/>
            <a:ext cx="88582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停稳与定位</a:t>
            </a:r>
          </a:p>
        </p:txBody>
      </p:sp>
      <p:sp>
        <p:nvSpPr>
          <p:cNvPr id="57" name="段落 · →"/>
          <p:cNvSpPr txBox="1"/>
          <p:nvPr/>
        </p:nvSpPr>
        <p:spPr>
          <a:xfrm>
            <a:off x="4155876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58" name="段落 · 升降"/>
          <p:cNvSpPr txBox="1"/>
          <p:nvPr/>
        </p:nvSpPr>
        <p:spPr>
          <a:xfrm>
            <a:off x="5047357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升降</a:t>
            </a:r>
          </a:p>
        </p:txBody>
      </p:sp>
      <p:sp>
        <p:nvSpPr>
          <p:cNvPr id="59" name="段落 · →"/>
          <p:cNvSpPr txBox="1"/>
          <p:nvPr/>
        </p:nvSpPr>
        <p:spPr>
          <a:xfrm>
            <a:off x="6014888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60" name="段落 · 抓取"/>
          <p:cNvSpPr txBox="1"/>
          <p:nvPr/>
        </p:nvSpPr>
        <p:spPr>
          <a:xfrm>
            <a:off x="6906369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抓取</a:t>
            </a:r>
          </a:p>
        </p:txBody>
      </p:sp>
      <p:sp>
        <p:nvSpPr>
          <p:cNvPr id="61" name="段落 · →"/>
          <p:cNvSpPr txBox="1"/>
          <p:nvPr/>
        </p:nvSpPr>
        <p:spPr>
          <a:xfrm>
            <a:off x="7873900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62" name="段落 · 收拢 / 降低高度"/>
          <p:cNvSpPr txBox="1"/>
          <p:nvPr/>
        </p:nvSpPr>
        <p:spPr>
          <a:xfrm>
            <a:off x="8373516" y="1943100"/>
            <a:ext cx="118377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收拢 / 降低高度</a:t>
            </a:r>
          </a:p>
        </p:txBody>
      </p:sp>
      <p:sp>
        <p:nvSpPr>
          <p:cNvPr id="63" name="段落 · →"/>
          <p:cNvSpPr txBox="1"/>
          <p:nvPr/>
        </p:nvSpPr>
        <p:spPr>
          <a:xfrm>
            <a:off x="9732912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>
                <a:solidFill>
                  <a:srgbClr val="7C96B0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64" name="段落 · 运输"/>
          <p:cNvSpPr txBox="1"/>
          <p:nvPr/>
        </p:nvSpPr>
        <p:spPr>
          <a:xfrm>
            <a:off x="10624393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运输</a:t>
            </a:r>
          </a:p>
        </p:txBody>
      </p:sp>
      <p:sp>
        <p:nvSpPr>
          <p:cNvPr id="65" name="段落 · Fig. 1 第四行局部 · 论文的物品上架任务"/>
          <p:cNvSpPr txBox="1"/>
          <p:nvPr/>
        </p:nvSpPr>
        <p:spPr>
          <a:xfrm>
            <a:off x="752475" y="3895725"/>
            <a:ext cx="231993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1 第四行局部 · 论文的物品上架任务</a:t>
            </a:r>
          </a:p>
        </p:txBody>
      </p:sp>
      <p:sp>
        <p:nvSpPr>
          <p:cNvPr id="66" name="段落 · 优先关注的变化"/>
          <p:cNvSpPr txBox="1"/>
          <p:nvPr/>
        </p:nvSpPr>
        <p:spPr>
          <a:xfrm>
            <a:off x="752475" y="4049910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优先关注的变化</a:t>
            </a:r>
          </a:p>
        </p:txBody>
      </p:sp>
      <p:sp>
        <p:nvSpPr>
          <p:cNvPr id="67" name="段落 · 不同层高、档案位置与尺寸。"/>
          <p:cNvSpPr txBox="1"/>
          <p:nvPr/>
        </p:nvSpPr>
        <p:spPr>
          <a:xfrm>
            <a:off x="914400" y="4515594"/>
            <a:ext cx="2552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不同层高、档案位置与尺寸。</a:t>
            </a:r>
          </a:p>
        </p:txBody>
      </p:sp>
      <p:sp>
        <p:nvSpPr>
          <p:cNvPr id="68" name="段落 · 各阶段误差如何传递到抓取和放置。"/>
          <p:cNvSpPr txBox="1"/>
          <p:nvPr/>
        </p:nvSpPr>
        <p:spPr>
          <a:xfrm>
            <a:off x="914400" y="4963269"/>
            <a:ext cx="3124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各阶段误差如何传递到抓取和放置。</a:t>
            </a:r>
          </a:p>
        </p:txBody>
      </p:sp>
      <p:sp>
        <p:nvSpPr>
          <p:cNvPr id="69" name="段落 · 需要适配的差异"/>
          <p:cNvSpPr txBox="1"/>
          <p:nvPr/>
        </p:nvSpPr>
        <p:spPr>
          <a:xfrm>
            <a:off x="6272212" y="2543175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需要适配的差异</a:t>
            </a:r>
          </a:p>
        </p:txBody>
      </p:sp>
      <p:sp>
        <p:nvSpPr>
          <p:cNvPr id="70" name="段落 · BRS"/>
          <p:cNvSpPr txBox="1"/>
          <p:nvPr/>
        </p:nvSpPr>
        <p:spPr>
          <a:xfrm>
            <a:off x="6396037" y="3104108"/>
            <a:ext cx="397371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BRS</a:t>
            </a:r>
          </a:p>
        </p:txBody>
      </p:sp>
      <p:sp>
        <p:nvSpPr>
          <p:cNvPr id="71" name="段落 · 档案存取初始方案"/>
          <p:cNvSpPr txBox="1"/>
          <p:nvPr/>
        </p:nvSpPr>
        <p:spPr>
          <a:xfrm>
            <a:off x="8717756" y="3104108"/>
            <a:ext cx="14478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档案存取初始方案</a:t>
            </a:r>
          </a:p>
        </p:txBody>
      </p:sp>
      <p:sp>
        <p:nvSpPr>
          <p:cNvPr id="72" name="段落 · R1 的 4 自由度躯干"/>
          <p:cNvSpPr txBox="1"/>
          <p:nvPr/>
        </p:nvSpPr>
        <p:spPr>
          <a:xfrm>
            <a:off x="6396037" y="3599408"/>
            <a:ext cx="151938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R1 的 4 自由度躯干</a:t>
            </a:r>
          </a:p>
        </p:txBody>
      </p:sp>
      <p:sp>
        <p:nvSpPr>
          <p:cNvPr id="73" name="段落 · QNobt 升降机构，不能直接等同"/>
          <p:cNvSpPr txBox="1"/>
          <p:nvPr/>
        </p:nvSpPr>
        <p:spPr>
          <a:xfrm>
            <a:off x="8717756" y="3599408"/>
            <a:ext cx="252308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QNobt 升降机构，不能直接等同</a:t>
            </a:r>
          </a:p>
        </p:txBody>
      </p:sp>
      <p:sp>
        <p:nvSpPr>
          <p:cNvPr id="74" name="段落 · 21 自由度全身动作"/>
          <p:cNvSpPr txBox="1"/>
          <p:nvPr/>
        </p:nvSpPr>
        <p:spPr>
          <a:xfrm>
            <a:off x="6396037" y="4094708"/>
            <a:ext cx="150509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21 自由度全身动作</a:t>
            </a:r>
          </a:p>
        </p:txBody>
      </p:sp>
      <p:sp>
        <p:nvSpPr>
          <p:cNvPr id="75" name="段落 · 按实际硬件接口定义动作空间"/>
          <p:cNvSpPr txBox="1"/>
          <p:nvPr/>
        </p:nvSpPr>
        <p:spPr>
          <a:xfrm>
            <a:off x="8717756" y="4094708"/>
            <a:ext cx="23050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按实际硬件接口定义动作空间</a:t>
            </a:r>
          </a:p>
        </p:txBody>
      </p:sp>
      <p:sp>
        <p:nvSpPr>
          <p:cNvPr id="76" name="段落 · 机载彩色点云 + 本体状态"/>
          <p:cNvSpPr txBox="1"/>
          <p:nvPr/>
        </p:nvSpPr>
        <p:spPr>
          <a:xfrm>
            <a:off x="6396037" y="4590008"/>
            <a:ext cx="196274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机载彩色点云 + 本体状态</a:t>
            </a:r>
          </a:p>
        </p:txBody>
      </p:sp>
      <p:sp>
        <p:nvSpPr>
          <p:cNvPr id="77" name="段落 · 视觉配置与传感器需核实"/>
          <p:cNvSpPr txBox="1"/>
          <p:nvPr/>
        </p:nvSpPr>
        <p:spPr>
          <a:xfrm>
            <a:off x="8717756" y="4590008"/>
            <a:ext cx="19621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视觉配置与传感器需核实</a:t>
            </a:r>
          </a:p>
        </p:txBody>
      </p:sp>
      <p:sp>
        <p:nvSpPr>
          <p:cNvPr id="78" name="段落 · 若抓取时底盘和升降固定，尚不能证明完整全身解码有必要。"/>
          <p:cNvSpPr txBox="1"/>
          <p:nvPr/>
        </p:nvSpPr>
        <p:spPr>
          <a:xfrm>
            <a:off x="6472237" y="5304383"/>
            <a:ext cx="49626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若抓取时底盘和升降固定，尚不能证明完整全身解码有必要。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724025"/>
            <a:ext cx="3463825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72402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7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4081016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500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500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500" y="3629620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6800" y="1724025"/>
            <a:ext cx="3463974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800" y="1724025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1250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6800" y="4081016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6800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06825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6825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6825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1275" y="1724025"/>
            <a:ext cx="3463825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1275" y="172402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15576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275" y="4081016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2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61300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1300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1300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475" y="4300091"/>
            <a:ext cx="10772775" cy="121056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2475" y="4300091"/>
            <a:ext cx="38100" cy="1210567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段落 · 13. 可参考内容与下一步验证"/>
          <p:cNvSpPr txBox="1"/>
          <p:nvPr/>
        </p:nvSpPr>
        <p:spPr>
          <a:xfrm>
            <a:off x="752475" y="323850"/>
            <a:ext cx="3848992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13. 可参考内容与下一步验证</a:t>
            </a:r>
          </a:p>
        </p:txBody>
      </p:sp>
      <p:sp>
        <p:nvSpPr>
          <p:cNvPr id="33" name="段落 · 项目讨论 · 按用户大纲整理，非论文已验证结论"/>
          <p:cNvSpPr txBox="1"/>
          <p:nvPr/>
        </p:nvSpPr>
        <p:spPr>
          <a:xfrm>
            <a:off x="752475" y="1352550"/>
            <a:ext cx="334491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项目讨论 · 按用户大纲整理，非论文已验证结论</a:t>
            </a:r>
          </a:p>
        </p:txBody>
      </p:sp>
      <p:sp>
        <p:nvSpPr>
          <p:cNvPr id="34" name="段落 · 优先借鉴"/>
          <p:cNvSpPr txBox="1"/>
          <p:nvPr/>
        </p:nvSpPr>
        <p:spPr>
          <a:xfrm>
            <a:off x="952500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优先借鉴</a:t>
            </a:r>
          </a:p>
        </p:txBody>
      </p:sp>
      <p:sp>
        <p:nvSpPr>
          <p:cNvPr id="35" name="段落 · 环境与本体信息融合"/>
          <p:cNvSpPr txBox="1"/>
          <p:nvPr/>
        </p:nvSpPr>
        <p:spPr>
          <a:xfrm>
            <a:off x="1114425" y="2361158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环境与本体信息融合</a:t>
            </a:r>
          </a:p>
        </p:txBody>
      </p:sp>
      <p:sp>
        <p:nvSpPr>
          <p:cNvPr id="36" name="段落 · 同步示范采集"/>
          <p:cNvSpPr txBox="1"/>
          <p:nvPr/>
        </p:nvSpPr>
        <p:spPr>
          <a:xfrm>
            <a:off x="1114425" y="2745878"/>
            <a:ext cx="11621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同步示范采集</a:t>
            </a:r>
          </a:p>
        </p:txBody>
      </p:sp>
      <p:sp>
        <p:nvSpPr>
          <p:cNvPr id="37" name="段落 · ST 与 ET 联合评估"/>
          <p:cNvSpPr txBox="1"/>
          <p:nvPr/>
        </p:nvSpPr>
        <p:spPr>
          <a:xfrm>
            <a:off x="1114425" y="3130599"/>
            <a:ext cx="153010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ST 与 ET 联合评估</a:t>
            </a:r>
          </a:p>
        </p:txBody>
      </p:sp>
      <p:sp>
        <p:nvSpPr>
          <p:cNvPr id="38" name="段落 · 失败分类与模块消融"/>
          <p:cNvSpPr txBox="1"/>
          <p:nvPr/>
        </p:nvSpPr>
        <p:spPr>
          <a:xfrm>
            <a:off x="1114425" y="3515320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失败分类与模块消融</a:t>
            </a:r>
          </a:p>
        </p:txBody>
      </p:sp>
      <p:sp>
        <p:nvSpPr>
          <p:cNvPr id="39" name="段落 · 需要验证"/>
          <p:cNvSpPr txBox="1"/>
          <p:nvPr/>
        </p:nvSpPr>
        <p:spPr>
          <a:xfrm>
            <a:off x="4606825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需要验证</a:t>
            </a:r>
          </a:p>
        </p:txBody>
      </p:sp>
      <p:sp>
        <p:nvSpPr>
          <p:cNvPr id="40" name="段落 · 历史观察是否有效"/>
          <p:cNvSpPr txBox="1"/>
          <p:nvPr/>
        </p:nvSpPr>
        <p:spPr>
          <a:xfrm>
            <a:off x="4768750" y="2361158"/>
            <a:ext cx="152414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历史观察是否有效</a:t>
            </a:r>
          </a:p>
        </p:txBody>
      </p:sp>
      <p:sp>
        <p:nvSpPr>
          <p:cNvPr id="41" name="段落 · 点云是否适合实际传感器"/>
          <p:cNvSpPr txBox="1"/>
          <p:nvPr/>
        </p:nvSpPr>
        <p:spPr>
          <a:xfrm>
            <a:off x="4768750" y="2745878"/>
            <a:ext cx="20670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点云是否适合实际传感器</a:t>
            </a:r>
          </a:p>
        </p:txBody>
      </p:sp>
      <p:sp>
        <p:nvSpPr>
          <p:cNvPr id="42" name="段落 · 升降与双臂联合预测是否有收益"/>
          <p:cNvSpPr txBox="1"/>
          <p:nvPr/>
        </p:nvSpPr>
        <p:spPr>
          <a:xfrm>
            <a:off x="4768750" y="3130599"/>
            <a:ext cx="26099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升降与双臂联合预测是否有收益</a:t>
            </a:r>
          </a:p>
        </p:txBody>
      </p:sp>
      <p:sp>
        <p:nvSpPr>
          <p:cNvPr id="43" name="段落 · 需要适配"/>
          <p:cNvSpPr txBox="1"/>
          <p:nvPr/>
        </p:nvSpPr>
        <p:spPr>
          <a:xfrm>
            <a:off x="8261300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需要适配</a:t>
            </a:r>
          </a:p>
        </p:txBody>
      </p:sp>
      <p:sp>
        <p:nvSpPr>
          <p:cNvPr id="44" name="段落 · 机器人控制接口"/>
          <p:cNvSpPr txBox="1"/>
          <p:nvPr/>
        </p:nvSpPr>
        <p:spPr>
          <a:xfrm>
            <a:off x="8423225" y="2361158"/>
            <a:ext cx="13431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机器人控制接口</a:t>
            </a:r>
          </a:p>
        </p:txBody>
      </p:sp>
      <p:sp>
        <p:nvSpPr>
          <p:cNvPr id="45" name="段落 · 动作空间与视觉配置"/>
          <p:cNvSpPr txBox="1"/>
          <p:nvPr/>
        </p:nvSpPr>
        <p:spPr>
          <a:xfrm>
            <a:off x="8423225" y="2745878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动作空间与视觉配置</a:t>
            </a:r>
          </a:p>
        </p:txBody>
      </p:sp>
      <p:sp>
        <p:nvSpPr>
          <p:cNvPr id="46" name="段落 · 示范记录和部署流程"/>
          <p:cNvSpPr txBox="1"/>
          <p:nvPr/>
        </p:nvSpPr>
        <p:spPr>
          <a:xfrm>
            <a:off x="8423225" y="3130599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示范记录和部署流程</a:t>
            </a:r>
          </a:p>
        </p:txBody>
      </p:sp>
      <p:sp>
        <p:nvSpPr>
          <p:cNvPr id="47" name="段落 · 下一步 · 据大纲"/>
          <p:cNvSpPr txBox="1"/>
          <p:nvPr/>
        </p:nvSpPr>
        <p:spPr>
          <a:xfrm>
            <a:off x="981075" y="4433441"/>
            <a:ext cx="149512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下一步 · 据大纲</a:t>
            </a:r>
          </a:p>
        </p:txBody>
      </p:sp>
      <p:sp>
        <p:nvSpPr>
          <p:cNvPr id="48" name="段落 · 先建立停稳且升降固定的抓取 / 放回基线；再改变层高、对象与位置，定位"/>
          <p:cNvSpPr txBox="1"/>
          <p:nvPr/>
        </p:nvSpPr>
        <p:spPr>
          <a:xfrm>
            <a:off x="981075" y="4766816"/>
            <a:ext cx="10245476" cy="6910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先建立停稳且升降固定的抓取 / 放回基线；再改变层高、对象与位置，定位失败瓶颈。确需协调时，再引入条件动作</a:t>
            </a:r>
            <a:br/>
            <a:r>
              <a:rPr sz="15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预测。</a:t>
            </a:r>
          </a:p>
        </p:txBody>
      </p:sp>
      <p:sp>
        <p:nvSpPr>
          <p:cNvPr id="49" name="段落 · 观察融合 · 示范采集 · 实验验证"/>
          <p:cNvSpPr txBox="1"/>
          <p:nvPr/>
        </p:nvSpPr>
        <p:spPr>
          <a:xfrm>
            <a:off x="752475" y="5748783"/>
            <a:ext cx="305588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观察融合 · 示范采集 · 实验验证</a:t>
            </a:r>
          </a:p>
        </p:txBody>
      </p:sp>
      <p:sp>
        <p:nvSpPr>
          <p:cNvPr id="50" name="段落 · 感谢聆听"/>
          <p:cNvSpPr txBox="1"/>
          <p:nvPr/>
        </p:nvSpPr>
        <p:spPr>
          <a:xfrm>
            <a:off x="10382250" y="5682108"/>
            <a:ext cx="1219200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感谢聆听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10772775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3629769"/>
            <a:ext cx="1991617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086969"/>
            <a:ext cx="1991617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4092" y="3629769"/>
            <a:ext cx="3261419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4092" y="4086969"/>
            <a:ext cx="3261419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475" y="45965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4092" y="45965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2475" y="4606081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475" y="50918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4092" y="50918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" y="55871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4092" y="55871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475" y="5596681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" y="60824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4092" y="60824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212" y="37535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2212" y="42012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2212" y="464894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17" y="1352550"/>
            <a:ext cx="9778090" cy="1600051"/>
          </a:xfrm>
          <a:prstGeom prst="rect">
            <a:avLst/>
          </a:prstGeom>
        </p:spPr>
      </p:pic>
      <p:sp>
        <p:nvSpPr>
          <p:cNvPr id="24" name="段落 · 备用 A. 条件解码公式与实现参数"/>
          <p:cNvSpPr txBox="1"/>
          <p:nvPr/>
        </p:nvSpPr>
        <p:spPr>
          <a:xfrm>
            <a:off x="752475" y="323850"/>
            <a:ext cx="4364384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备用 A. 条件解码公式与实现参数</a:t>
            </a:r>
          </a:p>
        </p:txBody>
      </p:sp>
      <p:sp>
        <p:nvSpPr>
          <p:cNvPr id="25" name="段落 · Eq. (1) · 原文公式；条件输入位于各去噪网络的竖线右侧"/>
          <p:cNvSpPr txBox="1"/>
          <p:nvPr/>
        </p:nvSpPr>
        <p:spPr>
          <a:xfrm>
            <a:off x="752475" y="3019425"/>
            <a:ext cx="321885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Eq. (1) · 原文公式；条件输入位于各去噪网络的竖线右侧</a:t>
            </a:r>
          </a:p>
        </p:txBody>
      </p:sp>
      <p:sp>
        <p:nvSpPr>
          <p:cNvPr id="26" name="段落 · 符号与条件依赖"/>
          <p:cNvSpPr txBox="1"/>
          <p:nvPr/>
        </p:nvSpPr>
        <p:spPr>
          <a:xfrm>
            <a:off x="752475" y="3173610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符号与条件依赖</a:t>
            </a:r>
          </a:p>
        </p:txBody>
      </p:sp>
      <p:sp>
        <p:nvSpPr>
          <p:cNvPr id="27" name="段落 · 符号"/>
          <p:cNvSpPr txBox="1"/>
          <p:nvPr/>
        </p:nvSpPr>
        <p:spPr>
          <a:xfrm>
            <a:off x="876300" y="3734544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符号</a:t>
            </a:r>
          </a:p>
        </p:txBody>
      </p:sp>
      <p:sp>
        <p:nvSpPr>
          <p:cNvPr id="28" name="段落 · 含义"/>
          <p:cNvSpPr txBox="1"/>
          <p:nvPr/>
        </p:nvSpPr>
        <p:spPr>
          <a:xfrm>
            <a:off x="2867917" y="3734544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含义</a:t>
            </a:r>
          </a:p>
        </p:txBody>
      </p:sp>
      <p:sp>
        <p:nvSpPr>
          <p:cNvPr id="29" name="段落 · Eᵃ"/>
          <p:cNvSpPr txBox="1"/>
          <p:nvPr/>
        </p:nvSpPr>
        <p:spPr>
          <a:xfrm>
            <a:off x="876300" y="4229844"/>
            <a:ext cx="23991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Eᵃ</a:t>
            </a:r>
          </a:p>
        </p:txBody>
      </p:sp>
      <p:sp>
        <p:nvSpPr>
          <p:cNvPr id="30" name="段落 · 观察融合后的动作读取特征"/>
          <p:cNvSpPr txBox="1"/>
          <p:nvPr/>
        </p:nvSpPr>
        <p:spPr>
          <a:xfrm>
            <a:off x="2867917" y="4229844"/>
            <a:ext cx="21336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观察融合后的动作读取特征</a:t>
            </a:r>
          </a:p>
        </p:txBody>
      </p:sp>
      <p:sp>
        <p:nvSpPr>
          <p:cNvPr id="31" name="段落 · a⁰base / a⁰torso"/>
          <p:cNvSpPr txBox="1"/>
          <p:nvPr/>
        </p:nvSpPr>
        <p:spPr>
          <a:xfrm>
            <a:off x="876300" y="4725144"/>
            <a:ext cx="1324272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a⁰base / a⁰torso</a:t>
            </a:r>
          </a:p>
        </p:txBody>
      </p:sp>
      <p:sp>
        <p:nvSpPr>
          <p:cNvPr id="32" name="段落 · 已完成去噪的底盘 / 躯干序列"/>
          <p:cNvSpPr txBox="1"/>
          <p:nvPr/>
        </p:nvSpPr>
        <p:spPr>
          <a:xfrm>
            <a:off x="2867917" y="4725144"/>
            <a:ext cx="22776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已完成去噪的底盘 / 躯干序列</a:t>
            </a:r>
          </a:p>
        </p:txBody>
      </p:sp>
      <p:sp>
        <p:nvSpPr>
          <p:cNvPr id="33" name="段落 · k"/>
          <p:cNvSpPr txBox="1"/>
          <p:nvPr/>
        </p:nvSpPr>
        <p:spPr>
          <a:xfrm>
            <a:off x="876300" y="5220444"/>
            <a:ext cx="170854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k</a:t>
            </a:r>
          </a:p>
        </p:txBody>
      </p:sp>
      <p:sp>
        <p:nvSpPr>
          <p:cNvPr id="34" name="段落 · 扩散去噪步"/>
          <p:cNvSpPr txBox="1"/>
          <p:nvPr/>
        </p:nvSpPr>
        <p:spPr>
          <a:xfrm>
            <a:off x="2867917" y="5220444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扩散去噪步</a:t>
            </a:r>
          </a:p>
        </p:txBody>
      </p:sp>
      <p:sp>
        <p:nvSpPr>
          <p:cNvPr id="35" name="段落 · Tₒ = 2 / Tₐ = 8"/>
          <p:cNvSpPr txBox="1"/>
          <p:nvPr/>
        </p:nvSpPr>
        <p:spPr>
          <a:xfrm>
            <a:off x="876300" y="5715744"/>
            <a:ext cx="108986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Tₒ = 2 / Tₐ = 8</a:t>
            </a:r>
          </a:p>
        </p:txBody>
      </p:sp>
      <p:sp>
        <p:nvSpPr>
          <p:cNvPr id="36" name="段落 · 观察窗口 / 未来动作预测时域"/>
          <p:cNvSpPr txBox="1"/>
          <p:nvPr/>
        </p:nvSpPr>
        <p:spPr>
          <a:xfrm>
            <a:off x="2867917" y="5715744"/>
            <a:ext cx="22776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观察窗口 / 未来动作预测时域</a:t>
            </a:r>
          </a:p>
        </p:txBody>
      </p:sp>
      <p:sp>
        <p:nvSpPr>
          <p:cNvPr id="37" name="段落 · 训练与部署 · 附录 C"/>
          <p:cNvSpPr txBox="1"/>
          <p:nvPr/>
        </p:nvSpPr>
        <p:spPr>
          <a:xfrm>
            <a:off x="6272212" y="3173610"/>
            <a:ext cx="211588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训练与部署 · 附录 C</a:t>
            </a:r>
          </a:p>
        </p:txBody>
      </p:sp>
      <p:sp>
        <p:nvSpPr>
          <p:cNvPr id="38" name="段落 · 训练：DDPM，100 个去噪步；推理：DDIM，16 个去噪步。"/>
          <p:cNvSpPr txBox="1"/>
          <p:nvPr/>
        </p:nvSpPr>
        <p:spPr>
          <a:xfrm>
            <a:off x="6434137" y="3639294"/>
            <a:ext cx="5129212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训练：DDPM，100 个去噪步；推理：DDIM，16 个去噪步。</a:t>
            </a:r>
          </a:p>
        </p:txBody>
      </p:sp>
      <p:sp>
        <p:nvSpPr>
          <p:cNvPr id="39" name="段落 · 观察编码器和 Transformer 每次推理仅运行一次。"/>
          <p:cNvSpPr txBox="1"/>
          <p:nvPr/>
        </p:nvSpPr>
        <p:spPr>
          <a:xfrm>
            <a:off x="6434137" y="4086969"/>
            <a:ext cx="430023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观察编码器和 Transformer 每次推理仅运行一次。</a:t>
            </a:r>
          </a:p>
        </p:txBody>
      </p:sp>
      <p:sp>
        <p:nvSpPr>
          <p:cNvPr id="40" name="段落 · 异步推理；切换预测序列时丢弃初始若干动作以补偿延迟。"/>
          <p:cNvSpPr txBox="1"/>
          <p:nvPr/>
        </p:nvSpPr>
        <p:spPr>
          <a:xfrm>
            <a:off x="6434137" y="4534644"/>
            <a:ext cx="5029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异步推理；切换预测序列时丢弃初始若干动作以补偿延迟。</a:t>
            </a:r>
          </a:p>
        </p:txBody>
      </p:sp>
      <p:sp>
        <p:nvSpPr>
          <p:cNvPr id="41" name="段落 · JoyLo 反馈：τ = Kₚ(qrobot − qJoyLo) + "/>
          <p:cNvSpPr txBox="1"/>
          <p:nvPr/>
        </p:nvSpPr>
        <p:spPr>
          <a:xfrm>
            <a:off x="6272212" y="4972794"/>
            <a:ext cx="5112692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JoyLo 反馈：τ = Kₚ(qrobot − qJoyLo) + Kd(q̇robot − q̇JoyLo) − K。原文中</a:t>
            </a:r>
            <a:br/>
            <a:r>
              <a:rPr sz="12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Kₚ、Kd、K 分别为比例、微分与阻尼增益。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780133"/>
            <a:ext cx="5253037" cy="347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2212" y="1780133"/>
            <a:ext cx="5253037" cy="347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620494"/>
            <a:ext cx="10772775" cy="44767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5620494"/>
            <a:ext cx="38100" cy="4476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9" y="2092969"/>
            <a:ext cx="5252868" cy="285080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23" y="2310705"/>
            <a:ext cx="5253016" cy="2415331"/>
          </a:xfrm>
          <a:prstGeom prst="rect">
            <a:avLst/>
          </a:prstGeom>
        </p:spPr>
      </p:pic>
      <p:sp>
        <p:nvSpPr>
          <p:cNvPr id="11" name="段落 · 备用 B. 两项任务的完整原始数据表"/>
          <p:cNvSpPr txBox="1"/>
          <p:nvPr/>
        </p:nvSpPr>
        <p:spPr>
          <a:xfrm>
            <a:off x="752475" y="323850"/>
            <a:ext cx="46793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备用 B. 两项任务的完整原始数据表</a:t>
            </a:r>
          </a:p>
        </p:txBody>
      </p:sp>
      <p:sp>
        <p:nvSpPr>
          <p:cNvPr id="12" name="段落 · 物品上架 · Table A.XII"/>
          <p:cNvSpPr txBox="1"/>
          <p:nvPr/>
        </p:nvSpPr>
        <p:spPr>
          <a:xfrm>
            <a:off x="752475" y="1323975"/>
            <a:ext cx="232261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物品上架 · Table A.XII</a:t>
            </a:r>
          </a:p>
        </p:txBody>
      </p:sp>
      <p:sp>
        <p:nvSpPr>
          <p:cNvPr id="13" name="段落 · 原文截图 · 保留人类遥操作、基线与消融行"/>
          <p:cNvSpPr txBox="1"/>
          <p:nvPr/>
        </p:nvSpPr>
        <p:spPr>
          <a:xfrm>
            <a:off x="752475" y="5323433"/>
            <a:ext cx="2484387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原文截图 · 保留人类遥操作、基线与消融行</a:t>
            </a:r>
          </a:p>
        </p:txBody>
      </p:sp>
      <p:sp>
        <p:nvSpPr>
          <p:cNvPr id="14" name="段落 · 铺放衣物 · Table A.XIII"/>
          <p:cNvSpPr txBox="1"/>
          <p:nvPr/>
        </p:nvSpPr>
        <p:spPr>
          <a:xfrm>
            <a:off x="6272212" y="1323975"/>
            <a:ext cx="238690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铺放衣物 · Table A.XIII</a:t>
            </a:r>
          </a:p>
        </p:txBody>
      </p:sp>
      <p:sp>
        <p:nvSpPr>
          <p:cNvPr id="15" name="段落 · 原文截图 · RGB-DP 的试验分母为 8"/>
          <p:cNvSpPr txBox="1"/>
          <p:nvPr/>
        </p:nvSpPr>
        <p:spPr>
          <a:xfrm>
            <a:off x="6272212" y="5323433"/>
            <a:ext cx="206990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原文截图 · RGB-DP 的试验分母为 8</a:t>
            </a:r>
          </a:p>
        </p:txBody>
      </p:sp>
      <p:sp>
        <p:nvSpPr>
          <p:cNvPr id="16" name="段落 · 读表口径：ET 为完整任务，ST 为子任务；括号内为成功次数 / 总试"/>
          <p:cNvSpPr txBox="1"/>
          <p:nvPr/>
        </p:nvSpPr>
        <p:spPr>
          <a:xfrm>
            <a:off x="933449" y="5715744"/>
            <a:ext cx="841712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>
                <a:solidFill>
                  <a:srgbClr val="1E293B"/>
                </a:solidFill>
                <a:latin typeface="Noto Sans CJK SC"/>
                <a:ea typeface="Noto Sans CJK SC"/>
              </a:rPr>
              <a:t>读表口径：</a:t>
            </a:r>
            <a:r>
              <a:rPr sz="13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ET 为完整任务，ST 为子任务；括号内为成功次数 / 总试验次数。人类遥操作与策略评估分母不同。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3524250" cy="432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43425" y="19039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43425" y="235163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3425" y="279930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3425" y="3208883"/>
            <a:ext cx="6981825" cy="2813000"/>
          </a:xfrm>
          <a:prstGeom prst="roundRect">
            <a:avLst>
              <a:gd name="adj" fmla="val 338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0" y="4065091"/>
            <a:ext cx="2816721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0" y="4392215"/>
            <a:ext cx="2131218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0" y="4719339"/>
            <a:ext cx="3647033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0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33913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5327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77" y="1352550"/>
            <a:ext cx="2876844" cy="4324201"/>
          </a:xfrm>
          <a:prstGeom prst="rect">
            <a:avLst/>
          </a:prstGeom>
        </p:spPr>
      </p:pic>
      <p:sp>
        <p:nvSpPr>
          <p:cNvPr id="17" name="段落 · 备用 C. 仿真消融与文献来源"/>
          <p:cNvSpPr txBox="1"/>
          <p:nvPr/>
        </p:nvSpPr>
        <p:spPr>
          <a:xfrm>
            <a:off x="752475" y="323850"/>
            <a:ext cx="3773388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备用 C. 仿真消融与文献来源</a:t>
            </a:r>
          </a:p>
        </p:txBody>
      </p:sp>
      <p:sp>
        <p:nvSpPr>
          <p:cNvPr id="18" name="段落 · Fig. 7 · 仿真擦桌任务；误差线为标准差"/>
          <p:cNvSpPr txBox="1"/>
          <p:nvPr/>
        </p:nvSpPr>
        <p:spPr>
          <a:xfrm>
            <a:off x="752475" y="5743575"/>
            <a:ext cx="229225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>
                <a:solidFill>
                  <a:srgbClr val="64748B"/>
                </a:solidFill>
                <a:latin typeface="Noto Sans CJK SC"/>
                <a:ea typeface="Noto Sans CJK SC"/>
              </a:rPr>
              <a:t>Fig. 7 · 仿真擦桌任务；误差线为标准差</a:t>
            </a:r>
          </a:p>
        </p:txBody>
      </p:sp>
      <p:sp>
        <p:nvSpPr>
          <p:cNvPr id="19" name="段落 · 仿真设置与解释边界"/>
          <p:cNvSpPr txBox="1"/>
          <p:nvPr/>
        </p:nvSpPr>
        <p:spPr>
          <a:xfrm>
            <a:off x="4543425" y="1323975"/>
            <a:ext cx="20478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仿真设置与解释边界</a:t>
            </a:r>
          </a:p>
        </p:txBody>
      </p:sp>
      <p:sp>
        <p:nvSpPr>
          <p:cNvPr id="20" name="段落 · OmniGibson 中擦向目标位置，并保持手与桌面接触。"/>
          <p:cNvSpPr txBox="1"/>
          <p:nvPr/>
        </p:nvSpPr>
        <p:spPr>
          <a:xfrm>
            <a:off x="4705350" y="1789658"/>
            <a:ext cx="465653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OmniGibson 中擦向目标位置，并保持手与桌面接触。</a:t>
            </a:r>
          </a:p>
        </p:txBody>
      </p:sp>
      <p:sp>
        <p:nvSpPr>
          <p:cNvPr id="21" name="段落 · 锁定底盘及躯干前两个关节；用目标位置替代相机输入。"/>
          <p:cNvSpPr txBox="1"/>
          <p:nvPr/>
        </p:nvSpPr>
        <p:spPr>
          <a:xfrm>
            <a:off x="4705350" y="2237333"/>
            <a:ext cx="4838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锁定底盘及躯干前两个关节；用目标位置替代相机输入。</a:t>
            </a:r>
          </a:p>
        </p:txBody>
      </p:sp>
      <p:sp>
        <p:nvSpPr>
          <p:cNvPr id="22" name="段落 · 5 次运行，每次 100 条 rollout；不等同于实机视觉场景。"/>
          <p:cNvSpPr txBox="1"/>
          <p:nvPr/>
        </p:nvSpPr>
        <p:spPr>
          <a:xfrm>
            <a:off x="4705350" y="2685008"/>
            <a:ext cx="488766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5 次运行，每次 100 条 rollout；不等同于实机视觉场景。</a:t>
            </a:r>
          </a:p>
        </p:txBody>
      </p:sp>
      <p:sp>
        <p:nvSpPr>
          <p:cNvPr id="23" name="段落 · 论文与工程资料"/>
          <p:cNvSpPr txBox="1"/>
          <p:nvPr/>
        </p:nvSpPr>
        <p:spPr>
          <a:xfrm>
            <a:off x="4762500" y="3370808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>
                <a:solidFill>
                  <a:srgbClr val="004098"/>
                </a:solidFill>
                <a:latin typeface="Noto Sans CJK SC"/>
                <a:ea typeface="Noto Sans CJK SC"/>
              </a:rPr>
              <a:t>论文与工程资料</a:t>
            </a:r>
          </a:p>
        </p:txBody>
      </p:sp>
      <p:sp>
        <p:nvSpPr>
          <p:cNvPr id="24" name="段落 · 论文正文与附录 · arXiv:2503.05652v2"/>
          <p:cNvSpPr txBox="1"/>
          <p:nvPr/>
        </p:nvSpPr>
        <p:spPr>
          <a:xfrm>
            <a:off x="4762500" y="3826966"/>
            <a:ext cx="2892921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论文正文与附录 · arXiv:2503.05652v2</a:t>
            </a:r>
          </a:p>
        </p:txBody>
      </p:sp>
      <p:sp>
        <p:nvSpPr>
          <p:cNvPr id="25" name="段落 · CoRL 2025 · PMLR 论文页面"/>
          <p:cNvSpPr txBox="1"/>
          <p:nvPr/>
        </p:nvSpPr>
        <p:spPr>
          <a:xfrm>
            <a:off x="4762500" y="4154090"/>
            <a:ext cx="220741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CoRL 2025 · PMLR 论文页面</a:t>
            </a:r>
          </a:p>
        </p:txBody>
      </p:sp>
      <p:sp>
        <p:nvSpPr>
          <p:cNvPr id="26" name="段落 · 项目主页与视频 · behavior-robot-suite.gith"/>
          <p:cNvSpPr txBox="1"/>
          <p:nvPr/>
        </p:nvSpPr>
        <p:spPr>
          <a:xfrm>
            <a:off x="4762500" y="4481214"/>
            <a:ext cx="3723233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项目主页与视频 · behavior-robot-suite.github.io</a:t>
            </a:r>
          </a:p>
        </p:txBody>
      </p:sp>
      <p:sp>
        <p:nvSpPr>
          <p:cNvPr id="27" name="段落 · 官方文档　 /　算法代码　 /　公开数据"/>
          <p:cNvSpPr txBox="1"/>
          <p:nvPr/>
        </p:nvSpPr>
        <p:spPr>
          <a:xfrm>
            <a:off x="4762500" y="4808339"/>
            <a:ext cx="286672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官方文档</a:t>
            </a: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　 /　</a:t>
            </a: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算法代码</a:t>
            </a:r>
            <a:r>
              <a:rPr sz="1275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　 /　</a:t>
            </a:r>
            <a:r>
              <a:rPr sz="1275" b="0" i="0" lang="zh-CN">
                <a:solidFill>
                  <a:srgbClr val="004098"/>
                </a:solidFill>
                <a:latin typeface="Noto Sans CJK SC"/>
                <a:ea typeface="Noto Sans CJK SC"/>
              </a:rPr>
              <a:t>公开数据</a:t>
            </a:r>
          </a:p>
        </p:txBody>
      </p:sp>
      <p:sp>
        <p:nvSpPr>
          <p:cNvPr id="28" name="段落 · 正文内容与数值核对依据：用户上传的 36 页 PDF。 排版参考：用户"/>
          <p:cNvSpPr txBox="1"/>
          <p:nvPr/>
        </p:nvSpPr>
        <p:spPr>
          <a:xfrm>
            <a:off x="4762500" y="5135463"/>
            <a:ext cx="3476625" cy="698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正文内容与数值核对依据：用户上传的 36 页 PDF。</a:t>
            </a:r>
            <a:br/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排版参考：用户上传的《学术论文结构与语言分析汇报》。</a:t>
            </a:r>
            <a:br/>
            <a:r>
              <a:rPr sz="1050" b="0" i="0" lang="zh-CN">
                <a:solidFill>
                  <a:srgbClr val="1E293B"/>
                </a:solidFill>
                <a:latin typeface="Noto Sans CJK SC"/>
                <a:ea typeface="Noto Sans CJK SC"/>
              </a:rPr>
              <a:t>项目讨论与讲解提示依据：用户上传的大纲。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